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alley Credit Union – Executive IT Dashboard" id="{B4AE12EA-A956-49D3-B946-7A9FD3AF8377}">
          <p14:sldIdLst>
            <p14:sldId id="2561"/>
          </p14:sldIdLst>
        </p14:section>
        <p14:section name="Executive Overview" id="{3CD1D017-6BB4-4BC3-B42D-69206FAA9BE4}">
          <p14:sldIdLst>
            <p14:sldId id="2562"/>
            <p14:sldId id="2563"/>
          </p14:sldIdLst>
        </p14:section>
        <p14:section name="Users, Devices, and Infrastructure" id="{C1449307-2F68-42A8-9F25-9F14AC0A4856}">
          <p14:sldIdLst>
            <p14:sldId id="2564"/>
            <p14:sldId id="2565"/>
            <p14:sldId id="2566"/>
          </p14:sldIdLst>
        </p14:section>
        <p14:section name="Productivity, Security, and Operations" id="{D0F2AE7B-332C-4706-A085-3AB1E86CFA16}">
          <p14:sldIdLst>
            <p14:sldId id="2567"/>
            <p14:sldId id="2568"/>
            <p14:sldId id="2569"/>
            <p14:sldId id="2570"/>
          </p14:sldIdLst>
        </p14:section>
        <p14:section name="Risk Awareness and Governance" id="{8355A006-BF89-46B6-8EB0-7295D620B6FE}">
          <p14:sldIdLst>
            <p14:sldId id="2571"/>
            <p14:sldId id="2572"/>
            <p14:sldId id="2573"/>
            <p14:sldId id="25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F5044D-39DE-5C65-6815-2F4D9C99CA5B}" v="7" dt="2026-06-01T13:09:39.1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Burchell" userId="S::tburchell@valleycreditunion.com::c24730bc-7761-4563-9360-78682ac41c75" providerId="AD" clId="Web-{C0F5044D-39DE-5C65-6815-2F4D9C99CA5B}"/>
    <pc:docChg chg="addSld delSld modSld modSection">
      <pc:chgData name="Thomas Burchell" userId="S::tburchell@valleycreditunion.com::c24730bc-7761-4563-9360-78682ac41c75" providerId="AD" clId="Web-{C0F5044D-39DE-5C65-6815-2F4D9C99CA5B}" dt="2026-06-01T13:10:14.652" v="27"/>
      <pc:docMkLst>
        <pc:docMk/>
      </pc:docMkLst>
      <pc:sldChg chg="addSp delSp modSp mod chgLayout">
        <pc:chgData name="Thomas Burchell" userId="S::tburchell@valleycreditunion.com::c24730bc-7761-4563-9360-78682ac41c75" providerId="AD" clId="Web-{C0F5044D-39DE-5C65-6815-2F4D9C99CA5B}" dt="2026-06-01T13:04:13.590" v="4"/>
        <pc:sldMkLst>
          <pc:docMk/>
          <pc:sldMk cId="86199493" sldId="2561"/>
        </pc:sldMkLst>
        <pc:spChg chg="mod">
          <ac:chgData name="Thomas Burchell" userId="S::tburchell@valleycreditunion.com::c24730bc-7761-4563-9360-78682ac41c75" providerId="AD" clId="Web-{C0F5044D-39DE-5C65-6815-2F4D9C99CA5B}" dt="2026-06-01T13:04:13.590" v="4"/>
          <ac:spMkLst>
            <pc:docMk/>
            <pc:sldMk cId="86199493" sldId="2561"/>
            <ac:spMk id="2" creationId="{4BD077A2-CDED-D7D1-DEB8-AE9656E7650E}"/>
          </ac:spMkLst>
        </pc:spChg>
        <pc:spChg chg="mod ord">
          <ac:chgData name="Thomas Burchell" userId="S::tburchell@valleycreditunion.com::c24730bc-7761-4563-9360-78682ac41c75" providerId="AD" clId="Web-{C0F5044D-39DE-5C65-6815-2F4D9C99CA5B}" dt="2026-06-01T13:04:13.590" v="4"/>
          <ac:spMkLst>
            <pc:docMk/>
            <pc:sldMk cId="86199493" sldId="2561"/>
            <ac:spMk id="3" creationId="{5B3F98F5-539C-94AF-B156-864A9FE6EC59}"/>
          </ac:spMkLst>
        </pc:spChg>
        <pc:spChg chg="mod">
          <ac:chgData name="Thomas Burchell" userId="S::tburchell@valleycreditunion.com::c24730bc-7761-4563-9360-78682ac41c75" providerId="AD" clId="Web-{C0F5044D-39DE-5C65-6815-2F4D9C99CA5B}" dt="2026-06-01T13:04:13.590" v="4"/>
          <ac:spMkLst>
            <pc:docMk/>
            <pc:sldMk cId="86199493" sldId="2561"/>
            <ac:spMk id="4" creationId="{FF23C75B-2C24-1985-3512-C6367A046E31}"/>
          </ac:spMkLst>
        </pc:spChg>
        <pc:spChg chg="mod">
          <ac:chgData name="Thomas Burchell" userId="S::tburchell@valleycreditunion.com::c24730bc-7761-4563-9360-78682ac41c75" providerId="AD" clId="Web-{C0F5044D-39DE-5C65-6815-2F4D9C99CA5B}" dt="2026-06-01T13:04:13.590" v="4"/>
          <ac:spMkLst>
            <pc:docMk/>
            <pc:sldMk cId="86199493" sldId="2561"/>
            <ac:spMk id="6" creationId="{0C5C6D96-1623-4CA6-27AE-A466FAF2B942}"/>
          </ac:spMkLst>
        </pc:spChg>
        <pc:spChg chg="mod">
          <ac:chgData name="Thomas Burchell" userId="S::tburchell@valleycreditunion.com::c24730bc-7761-4563-9360-78682ac41c75" providerId="AD" clId="Web-{C0F5044D-39DE-5C65-6815-2F4D9C99CA5B}" dt="2026-06-01T13:04:13.590" v="4"/>
          <ac:spMkLst>
            <pc:docMk/>
            <pc:sldMk cId="86199493" sldId="2561"/>
            <ac:spMk id="7" creationId="{59D899AB-292D-0DCC-2BDB-129C1448B139}"/>
          </ac:spMkLst>
        </pc:spChg>
        <pc:picChg chg="add del">
          <ac:chgData name="Thomas Burchell" userId="S::tburchell@valleycreditunion.com::c24730bc-7761-4563-9360-78682ac41c75" providerId="AD" clId="Web-{C0F5044D-39DE-5C65-6815-2F4D9C99CA5B}" dt="2026-06-01T13:03:54.730" v="1"/>
          <ac:picMkLst>
            <pc:docMk/>
            <pc:sldMk cId="86199493" sldId="2561"/>
            <ac:picMk id="9" creationId="{52C2AC1B-28C7-9C72-9222-353F2475ABEF}"/>
          </ac:picMkLst>
        </pc:picChg>
        <pc:picChg chg="add del">
          <ac:chgData name="Thomas Burchell" userId="S::tburchell@valleycreditunion.com::c24730bc-7761-4563-9360-78682ac41c75" providerId="AD" clId="Web-{C0F5044D-39DE-5C65-6815-2F4D9C99CA5B}" dt="2026-06-01T13:04:13.574" v="3"/>
          <ac:picMkLst>
            <pc:docMk/>
            <pc:sldMk cId="86199493" sldId="2561"/>
            <ac:picMk id="11" creationId="{A736719C-5089-6127-6555-A58A33E492AB}"/>
          </ac:picMkLst>
        </pc:picChg>
        <pc:picChg chg="add">
          <ac:chgData name="Thomas Burchell" userId="S::tburchell@valleycreditunion.com::c24730bc-7761-4563-9360-78682ac41c75" providerId="AD" clId="Web-{C0F5044D-39DE-5C65-6815-2F4D9C99CA5B}" dt="2026-06-01T13:04:13.590" v="4"/>
          <ac:picMkLst>
            <pc:docMk/>
            <pc:sldMk cId="86199493" sldId="2561"/>
            <ac:picMk id="13" creationId="{52C2AC1B-28C7-9C72-9222-353F2475ABEF}"/>
          </ac:picMkLst>
        </pc:picChg>
      </pc:sldChg>
      <pc:sldChg chg="addSp modSp mod modClrScheme chgLayout">
        <pc:chgData name="Thomas Burchell" userId="S::tburchell@valleycreditunion.com::c24730bc-7761-4563-9360-78682ac41c75" providerId="AD" clId="Web-{C0F5044D-39DE-5C65-6815-2F4D9C99CA5B}" dt="2026-06-01T13:04:52.496" v="5"/>
        <pc:sldMkLst>
          <pc:docMk/>
          <pc:sldMk cId="3062945864" sldId="2562"/>
        </pc:sldMkLst>
        <pc:spChg chg="mod">
          <ac:chgData name="Thomas Burchell" userId="S::tburchell@valleycreditunion.com::c24730bc-7761-4563-9360-78682ac41c75" providerId="AD" clId="Web-{C0F5044D-39DE-5C65-6815-2F4D9C99CA5B}" dt="2026-06-01T13:04:52.496" v="5"/>
          <ac:spMkLst>
            <pc:docMk/>
            <pc:sldMk cId="3062945864" sldId="2562"/>
            <ac:spMk id="2" creationId="{220A843F-0982-A441-B443-B21841B237AA}"/>
          </ac:spMkLst>
        </pc:spChg>
        <pc:spChg chg="mod">
          <ac:chgData name="Thomas Burchell" userId="S::tburchell@valleycreditunion.com::c24730bc-7761-4563-9360-78682ac41c75" providerId="AD" clId="Web-{C0F5044D-39DE-5C65-6815-2F4D9C99CA5B}" dt="2026-06-01T13:04:52.496" v="5"/>
          <ac:spMkLst>
            <pc:docMk/>
            <pc:sldMk cId="3062945864" sldId="2562"/>
            <ac:spMk id="4" creationId="{FA783EC6-9C04-268F-FCA5-B0DD89A0D667}"/>
          </ac:spMkLst>
        </pc:spChg>
        <pc:spChg chg="mod">
          <ac:chgData name="Thomas Burchell" userId="S::tburchell@valleycreditunion.com::c24730bc-7761-4563-9360-78682ac41c75" providerId="AD" clId="Web-{C0F5044D-39DE-5C65-6815-2F4D9C99CA5B}" dt="2026-06-01T13:04:52.496" v="5"/>
          <ac:spMkLst>
            <pc:docMk/>
            <pc:sldMk cId="3062945864" sldId="2562"/>
            <ac:spMk id="6" creationId="{751FECA9-B34F-12C5-1ECC-7EB9DA5BDE6F}"/>
          </ac:spMkLst>
        </pc:spChg>
        <pc:spChg chg="mod">
          <ac:chgData name="Thomas Burchell" userId="S::tburchell@valleycreditunion.com::c24730bc-7761-4563-9360-78682ac41c75" providerId="AD" clId="Web-{C0F5044D-39DE-5C65-6815-2F4D9C99CA5B}" dt="2026-06-01T13:04:52.496" v="5"/>
          <ac:spMkLst>
            <pc:docMk/>
            <pc:sldMk cId="3062945864" sldId="2562"/>
            <ac:spMk id="7" creationId="{01BD9E1B-B3E8-A8BA-6499-5F5C6A96736D}"/>
          </ac:spMkLst>
        </pc:spChg>
        <pc:spChg chg="add mod">
          <ac:chgData name="Thomas Burchell" userId="S::tburchell@valleycreditunion.com::c24730bc-7761-4563-9360-78682ac41c75" providerId="AD" clId="Web-{C0F5044D-39DE-5C65-6815-2F4D9C99CA5B}" dt="2026-06-01T13:04:52.496" v="5"/>
          <ac:spMkLst>
            <pc:docMk/>
            <pc:sldMk cId="3062945864" sldId="2562"/>
            <ac:spMk id="12" creationId="{F0419DBC-A65D-BBC0-66AF-FD9671937B1B}"/>
          </ac:spMkLst>
        </pc:spChg>
        <pc:spChg chg="add mod">
          <ac:chgData name="Thomas Burchell" userId="S::tburchell@valleycreditunion.com::c24730bc-7761-4563-9360-78682ac41c75" providerId="AD" clId="Web-{C0F5044D-39DE-5C65-6815-2F4D9C99CA5B}" dt="2026-06-01T13:04:52.496" v="5"/>
          <ac:spMkLst>
            <pc:docMk/>
            <pc:sldMk cId="3062945864" sldId="2562"/>
            <ac:spMk id="14" creationId="{8198237D-5210-79C3-AE99-E5883FE3FEE9}"/>
          </ac:spMkLst>
        </pc:spChg>
      </pc:sldChg>
      <pc:sldChg chg="addSp modSp mod modClrScheme chgLayout">
        <pc:chgData name="Thomas Burchell" userId="S::tburchell@valleycreditunion.com::c24730bc-7761-4563-9360-78682ac41c75" providerId="AD" clId="Web-{C0F5044D-39DE-5C65-6815-2F4D9C99CA5B}" dt="2026-06-01T13:05:35.168" v="12"/>
        <pc:sldMkLst>
          <pc:docMk/>
          <pc:sldMk cId="1411463118" sldId="2563"/>
        </pc:sldMkLst>
        <pc:spChg chg="mod">
          <ac:chgData name="Thomas Burchell" userId="S::tburchell@valleycreditunion.com::c24730bc-7761-4563-9360-78682ac41c75" providerId="AD" clId="Web-{C0F5044D-39DE-5C65-6815-2F4D9C99CA5B}" dt="2026-06-01T13:05:35.168" v="12"/>
          <ac:spMkLst>
            <pc:docMk/>
            <pc:sldMk cId="1411463118" sldId="2563"/>
            <ac:spMk id="2" creationId="{C7027BD7-8487-E344-77CF-1EE56BE96277}"/>
          </ac:spMkLst>
        </pc:spChg>
        <pc:spChg chg="mod">
          <ac:chgData name="Thomas Burchell" userId="S::tburchell@valleycreditunion.com::c24730bc-7761-4563-9360-78682ac41c75" providerId="AD" clId="Web-{C0F5044D-39DE-5C65-6815-2F4D9C99CA5B}" dt="2026-06-01T13:05:35.168" v="12"/>
          <ac:spMkLst>
            <pc:docMk/>
            <pc:sldMk cId="1411463118" sldId="2563"/>
            <ac:spMk id="3" creationId="{74089CA4-4BC6-B85F-B8FE-8A24B9ACA0DB}"/>
          </ac:spMkLst>
        </pc:spChg>
        <pc:spChg chg="mod">
          <ac:chgData name="Thomas Burchell" userId="S::tburchell@valleycreditunion.com::c24730bc-7761-4563-9360-78682ac41c75" providerId="AD" clId="Web-{C0F5044D-39DE-5C65-6815-2F4D9C99CA5B}" dt="2026-06-01T13:05:35.168" v="12"/>
          <ac:spMkLst>
            <pc:docMk/>
            <pc:sldMk cId="1411463118" sldId="2563"/>
            <ac:spMk id="4" creationId="{C61CC15A-6CF3-7B32-5A7E-7E9256344B8D}"/>
          </ac:spMkLst>
        </pc:spChg>
        <pc:spChg chg="mod">
          <ac:chgData name="Thomas Burchell" userId="S::tburchell@valleycreditunion.com::c24730bc-7761-4563-9360-78682ac41c75" providerId="AD" clId="Web-{C0F5044D-39DE-5C65-6815-2F4D9C99CA5B}" dt="2026-06-01T13:05:35.168" v="12"/>
          <ac:spMkLst>
            <pc:docMk/>
            <pc:sldMk cId="1411463118" sldId="2563"/>
            <ac:spMk id="5" creationId="{FCB4C4BE-F0F2-8618-E925-E17C19B4B59C}"/>
          </ac:spMkLst>
        </pc:spChg>
        <pc:spChg chg="mod">
          <ac:chgData name="Thomas Burchell" userId="S::tburchell@valleycreditunion.com::c24730bc-7761-4563-9360-78682ac41c75" providerId="AD" clId="Web-{C0F5044D-39DE-5C65-6815-2F4D9C99CA5B}" dt="2026-06-01T13:05:35.168" v="12"/>
          <ac:spMkLst>
            <pc:docMk/>
            <pc:sldMk cId="1411463118" sldId="2563"/>
            <ac:spMk id="7" creationId="{A7431BF4-37E9-209A-CF0F-5EFA5C3D2DF0}"/>
          </ac:spMkLst>
        </pc:spChg>
        <pc:spChg chg="add mod">
          <ac:chgData name="Thomas Burchell" userId="S::tburchell@valleycreditunion.com::c24730bc-7761-4563-9360-78682ac41c75" providerId="AD" clId="Web-{C0F5044D-39DE-5C65-6815-2F4D9C99CA5B}" dt="2026-06-01T13:05:35.168" v="12"/>
          <ac:spMkLst>
            <pc:docMk/>
            <pc:sldMk cId="1411463118" sldId="2563"/>
            <ac:spMk id="13" creationId="{70441BEE-0323-7328-5271-724C3F14D4FC}"/>
          </ac:spMkLst>
        </pc:spChg>
        <pc:spChg chg="add mod">
          <ac:chgData name="Thomas Burchell" userId="S::tburchell@valleycreditunion.com::c24730bc-7761-4563-9360-78682ac41c75" providerId="AD" clId="Web-{C0F5044D-39DE-5C65-6815-2F4D9C99CA5B}" dt="2026-06-01T13:05:35.168" v="12"/>
          <ac:spMkLst>
            <pc:docMk/>
            <pc:sldMk cId="1411463118" sldId="2563"/>
            <ac:spMk id="15" creationId="{AFC5E6A9-1E2B-7AC7-2253-07FA2F5947B9}"/>
          </ac:spMkLst>
        </pc:spChg>
        <pc:picChg chg="mod ord">
          <ac:chgData name="Thomas Burchell" userId="S::tburchell@valleycreditunion.com::c24730bc-7761-4563-9360-78682ac41c75" providerId="AD" clId="Web-{C0F5044D-39DE-5C65-6815-2F4D9C99CA5B}" dt="2026-06-01T13:05:35.168" v="12"/>
          <ac:picMkLst>
            <pc:docMk/>
            <pc:sldMk cId="1411463118" sldId="2563"/>
            <ac:picMk id="8" creationId="{5417A1AD-3232-4155-8D67-EE98C05F9A59}"/>
          </ac:picMkLst>
        </pc:picChg>
      </pc:sldChg>
      <pc:sldChg chg="addSp modSp mod modClrScheme chgLayout">
        <pc:chgData name="Thomas Burchell" userId="S::tburchell@valleycreditunion.com::c24730bc-7761-4563-9360-78682ac41c75" providerId="AD" clId="Web-{C0F5044D-39DE-5C65-6815-2F4D9C99CA5B}" dt="2026-06-01T13:05:54.668" v="13"/>
        <pc:sldMkLst>
          <pc:docMk/>
          <pc:sldMk cId="2329769168" sldId="2564"/>
        </pc:sldMkLst>
        <pc:spChg chg="mod">
          <ac:chgData name="Thomas Burchell" userId="S::tburchell@valleycreditunion.com::c24730bc-7761-4563-9360-78682ac41c75" providerId="AD" clId="Web-{C0F5044D-39DE-5C65-6815-2F4D9C99CA5B}" dt="2026-06-01T13:05:54.668" v="13"/>
          <ac:spMkLst>
            <pc:docMk/>
            <pc:sldMk cId="2329769168" sldId="2564"/>
            <ac:spMk id="2" creationId="{82B9D09B-EE5C-1942-54AA-33709BF5BFDD}"/>
          </ac:spMkLst>
        </pc:spChg>
        <pc:spChg chg="mod">
          <ac:chgData name="Thomas Burchell" userId="S::tburchell@valleycreditunion.com::c24730bc-7761-4563-9360-78682ac41c75" providerId="AD" clId="Web-{C0F5044D-39DE-5C65-6815-2F4D9C99CA5B}" dt="2026-06-01T13:05:54.668" v="13"/>
          <ac:spMkLst>
            <pc:docMk/>
            <pc:sldMk cId="2329769168" sldId="2564"/>
            <ac:spMk id="4" creationId="{CF4E2ED1-B2CE-7FC9-C5D7-CC2A0FF48271}"/>
          </ac:spMkLst>
        </pc:spChg>
        <pc:spChg chg="mod">
          <ac:chgData name="Thomas Burchell" userId="S::tburchell@valleycreditunion.com::c24730bc-7761-4563-9360-78682ac41c75" providerId="AD" clId="Web-{C0F5044D-39DE-5C65-6815-2F4D9C99CA5B}" dt="2026-06-01T13:05:54.668" v="13"/>
          <ac:spMkLst>
            <pc:docMk/>
            <pc:sldMk cId="2329769168" sldId="2564"/>
            <ac:spMk id="6" creationId="{F4BEF6B2-8115-BA7F-D1D5-A7898EEC1114}"/>
          </ac:spMkLst>
        </pc:spChg>
        <pc:spChg chg="mod">
          <ac:chgData name="Thomas Burchell" userId="S::tburchell@valleycreditunion.com::c24730bc-7761-4563-9360-78682ac41c75" providerId="AD" clId="Web-{C0F5044D-39DE-5C65-6815-2F4D9C99CA5B}" dt="2026-06-01T13:05:54.668" v="13"/>
          <ac:spMkLst>
            <pc:docMk/>
            <pc:sldMk cId="2329769168" sldId="2564"/>
            <ac:spMk id="7" creationId="{0C915487-C34F-C253-EC24-CD6FD5FCA415}"/>
          </ac:spMkLst>
        </pc:spChg>
        <pc:spChg chg="add mod">
          <ac:chgData name="Thomas Burchell" userId="S::tburchell@valleycreditunion.com::c24730bc-7761-4563-9360-78682ac41c75" providerId="AD" clId="Web-{C0F5044D-39DE-5C65-6815-2F4D9C99CA5B}" dt="2026-06-01T13:05:54.668" v="13"/>
          <ac:spMkLst>
            <pc:docMk/>
            <pc:sldMk cId="2329769168" sldId="2564"/>
            <ac:spMk id="13" creationId="{C210DC71-75B3-7C3A-A3EF-84E4AFA4BD9D}"/>
          </ac:spMkLst>
        </pc:spChg>
        <pc:picChg chg="add">
          <ac:chgData name="Thomas Burchell" userId="S::tburchell@valleycreditunion.com::c24730bc-7761-4563-9360-78682ac41c75" providerId="AD" clId="Web-{C0F5044D-39DE-5C65-6815-2F4D9C99CA5B}" dt="2026-06-01T13:05:54.668" v="13"/>
          <ac:picMkLst>
            <pc:docMk/>
            <pc:sldMk cId="2329769168" sldId="2564"/>
            <ac:picMk id="9" creationId="{38E6B89D-19C5-DCAE-5541-1DF0EBBEE34D}"/>
          </ac:picMkLst>
        </pc:picChg>
      </pc:sldChg>
      <pc:sldChg chg="modSp mod modClrScheme chgLayout">
        <pc:chgData name="Thomas Burchell" userId="S::tburchell@valleycreditunion.com::c24730bc-7761-4563-9360-78682ac41c75" providerId="AD" clId="Web-{C0F5044D-39DE-5C65-6815-2F4D9C99CA5B}" dt="2026-06-01T13:06:21.090" v="14"/>
        <pc:sldMkLst>
          <pc:docMk/>
          <pc:sldMk cId="2410758818" sldId="2565"/>
        </pc:sldMkLst>
        <pc:spChg chg="mod">
          <ac:chgData name="Thomas Burchell" userId="S::tburchell@valleycreditunion.com::c24730bc-7761-4563-9360-78682ac41c75" providerId="AD" clId="Web-{C0F5044D-39DE-5C65-6815-2F4D9C99CA5B}" dt="2026-06-01T13:06:21.090" v="14"/>
          <ac:spMkLst>
            <pc:docMk/>
            <pc:sldMk cId="2410758818" sldId="2565"/>
            <ac:spMk id="2" creationId="{3B1A1865-1D04-9AF1-0965-69B4F95DBF9A}"/>
          </ac:spMkLst>
        </pc:spChg>
        <pc:spChg chg="mod">
          <ac:chgData name="Thomas Burchell" userId="S::tburchell@valleycreditunion.com::c24730bc-7761-4563-9360-78682ac41c75" providerId="AD" clId="Web-{C0F5044D-39DE-5C65-6815-2F4D9C99CA5B}" dt="2026-06-01T13:06:21.090" v="14"/>
          <ac:spMkLst>
            <pc:docMk/>
            <pc:sldMk cId="2410758818" sldId="2565"/>
            <ac:spMk id="3" creationId="{3EC0AF4F-BAB5-51B4-B49D-BF09F60ABB8D}"/>
          </ac:spMkLst>
        </pc:spChg>
        <pc:spChg chg="mod">
          <ac:chgData name="Thomas Burchell" userId="S::tburchell@valleycreditunion.com::c24730bc-7761-4563-9360-78682ac41c75" providerId="AD" clId="Web-{C0F5044D-39DE-5C65-6815-2F4D9C99CA5B}" dt="2026-06-01T13:06:21.090" v="14"/>
          <ac:spMkLst>
            <pc:docMk/>
            <pc:sldMk cId="2410758818" sldId="2565"/>
            <ac:spMk id="4" creationId="{843F77F8-1A9F-1EB8-3060-EAD90D37070F}"/>
          </ac:spMkLst>
        </pc:spChg>
        <pc:spChg chg="mod">
          <ac:chgData name="Thomas Burchell" userId="S::tburchell@valleycreditunion.com::c24730bc-7761-4563-9360-78682ac41c75" providerId="AD" clId="Web-{C0F5044D-39DE-5C65-6815-2F4D9C99CA5B}" dt="2026-06-01T13:06:21.090" v="14"/>
          <ac:spMkLst>
            <pc:docMk/>
            <pc:sldMk cId="2410758818" sldId="2565"/>
            <ac:spMk id="5" creationId="{3E0E4CE4-66E7-A773-E2BA-F72EC4CC7B40}"/>
          </ac:spMkLst>
        </pc:spChg>
        <pc:spChg chg="mod">
          <ac:chgData name="Thomas Burchell" userId="S::tburchell@valleycreditunion.com::c24730bc-7761-4563-9360-78682ac41c75" providerId="AD" clId="Web-{C0F5044D-39DE-5C65-6815-2F4D9C99CA5B}" dt="2026-06-01T13:06:21.090" v="14"/>
          <ac:spMkLst>
            <pc:docMk/>
            <pc:sldMk cId="2410758818" sldId="2565"/>
            <ac:spMk id="7" creationId="{46CD8B7D-6834-0F3B-867C-AED860FF5206}"/>
          </ac:spMkLst>
        </pc:spChg>
        <pc:picChg chg="mod">
          <ac:chgData name="Thomas Burchell" userId="S::tburchell@valleycreditunion.com::c24730bc-7761-4563-9360-78682ac41c75" providerId="AD" clId="Web-{C0F5044D-39DE-5C65-6815-2F4D9C99CA5B}" dt="2026-06-01T13:06:21.090" v="14"/>
          <ac:picMkLst>
            <pc:docMk/>
            <pc:sldMk cId="2410758818" sldId="2565"/>
            <ac:picMk id="8" creationId="{A939E9D5-D93D-4B78-8EF4-36699335C81E}"/>
          </ac:picMkLst>
        </pc:picChg>
      </pc:sldChg>
      <pc:sldChg chg="addSp modSp mod modClrScheme chgLayout">
        <pc:chgData name="Thomas Burchell" userId="S::tburchell@valleycreditunion.com::c24730bc-7761-4563-9360-78682ac41c75" providerId="AD" clId="Web-{C0F5044D-39DE-5C65-6815-2F4D9C99CA5B}" dt="2026-06-01T13:06:34.652" v="15"/>
        <pc:sldMkLst>
          <pc:docMk/>
          <pc:sldMk cId="3608600996" sldId="2566"/>
        </pc:sldMkLst>
        <pc:spChg chg="mod">
          <ac:chgData name="Thomas Burchell" userId="S::tburchell@valleycreditunion.com::c24730bc-7761-4563-9360-78682ac41c75" providerId="AD" clId="Web-{C0F5044D-39DE-5C65-6815-2F4D9C99CA5B}" dt="2026-06-01T13:06:34.652" v="15"/>
          <ac:spMkLst>
            <pc:docMk/>
            <pc:sldMk cId="3608600996" sldId="2566"/>
            <ac:spMk id="2" creationId="{9B324A95-2195-F3F0-04AC-2D7C94D44306}"/>
          </ac:spMkLst>
        </pc:spChg>
        <pc:spChg chg="mod">
          <ac:chgData name="Thomas Burchell" userId="S::tburchell@valleycreditunion.com::c24730bc-7761-4563-9360-78682ac41c75" providerId="AD" clId="Web-{C0F5044D-39DE-5C65-6815-2F4D9C99CA5B}" dt="2026-06-01T13:06:34.652" v="15"/>
          <ac:spMkLst>
            <pc:docMk/>
            <pc:sldMk cId="3608600996" sldId="2566"/>
            <ac:spMk id="4" creationId="{5A5A2BCA-BB47-BD74-A5E4-0CC91C5434E0}"/>
          </ac:spMkLst>
        </pc:spChg>
        <pc:spChg chg="mod">
          <ac:chgData name="Thomas Burchell" userId="S::tburchell@valleycreditunion.com::c24730bc-7761-4563-9360-78682ac41c75" providerId="AD" clId="Web-{C0F5044D-39DE-5C65-6815-2F4D9C99CA5B}" dt="2026-06-01T13:06:34.652" v="15"/>
          <ac:spMkLst>
            <pc:docMk/>
            <pc:sldMk cId="3608600996" sldId="2566"/>
            <ac:spMk id="5" creationId="{F953ABD0-89AA-6F28-61EF-1559B05F8CA3}"/>
          </ac:spMkLst>
        </pc:spChg>
        <pc:spChg chg="mod">
          <ac:chgData name="Thomas Burchell" userId="S::tburchell@valleycreditunion.com::c24730bc-7761-4563-9360-78682ac41c75" providerId="AD" clId="Web-{C0F5044D-39DE-5C65-6815-2F4D9C99CA5B}" dt="2026-06-01T13:06:34.652" v="15"/>
          <ac:spMkLst>
            <pc:docMk/>
            <pc:sldMk cId="3608600996" sldId="2566"/>
            <ac:spMk id="6" creationId="{EFBC99B4-6508-83BA-CE31-D31B57C3AEAB}"/>
          </ac:spMkLst>
        </pc:spChg>
        <pc:spChg chg="add mod">
          <ac:chgData name="Thomas Burchell" userId="S::tburchell@valleycreditunion.com::c24730bc-7761-4563-9360-78682ac41c75" providerId="AD" clId="Web-{C0F5044D-39DE-5C65-6815-2F4D9C99CA5B}" dt="2026-06-01T13:06:34.652" v="15"/>
          <ac:spMkLst>
            <pc:docMk/>
            <pc:sldMk cId="3608600996" sldId="2566"/>
            <ac:spMk id="12" creationId="{C95D0E36-5599-3188-B09B-6FAEBA63DD6D}"/>
          </ac:spMkLst>
        </pc:spChg>
        <pc:graphicFrameChg chg="mod ord modGraphic">
          <ac:chgData name="Thomas Burchell" userId="S::tburchell@valleycreditunion.com::c24730bc-7761-4563-9360-78682ac41c75" providerId="AD" clId="Web-{C0F5044D-39DE-5C65-6815-2F4D9C99CA5B}" dt="2026-06-01T13:06:34.652" v="15"/>
          <ac:graphicFrameMkLst>
            <pc:docMk/>
            <pc:sldMk cId="3608600996" sldId="2566"/>
            <ac:graphicFrameMk id="7" creationId="{50EB0A56-B305-449F-A391-ACC3A556DC3F}"/>
          </ac:graphicFrameMkLst>
        </pc:graphicFrameChg>
      </pc:sldChg>
      <pc:sldChg chg="addSp modSp mod chgLayout">
        <pc:chgData name="Thomas Burchell" userId="S::tburchell@valleycreditunion.com::c24730bc-7761-4563-9360-78682ac41c75" providerId="AD" clId="Web-{C0F5044D-39DE-5C65-6815-2F4D9C99CA5B}" dt="2026-06-01T13:06:52.965" v="16"/>
        <pc:sldMkLst>
          <pc:docMk/>
          <pc:sldMk cId="775041260" sldId="2567"/>
        </pc:sldMkLst>
        <pc:spChg chg="mod">
          <ac:chgData name="Thomas Burchell" userId="S::tburchell@valleycreditunion.com::c24730bc-7761-4563-9360-78682ac41c75" providerId="AD" clId="Web-{C0F5044D-39DE-5C65-6815-2F4D9C99CA5B}" dt="2026-06-01T13:06:52.965" v="16"/>
          <ac:spMkLst>
            <pc:docMk/>
            <pc:sldMk cId="775041260" sldId="2567"/>
            <ac:spMk id="2" creationId="{C7814DE7-7CB2-2224-244E-2ED8FA6A04C5}"/>
          </ac:spMkLst>
        </pc:spChg>
        <pc:spChg chg="mod">
          <ac:chgData name="Thomas Burchell" userId="S::tburchell@valleycreditunion.com::c24730bc-7761-4563-9360-78682ac41c75" providerId="AD" clId="Web-{C0F5044D-39DE-5C65-6815-2F4D9C99CA5B}" dt="2026-06-01T13:06:52.965" v="16"/>
          <ac:spMkLst>
            <pc:docMk/>
            <pc:sldMk cId="775041260" sldId="2567"/>
            <ac:spMk id="4" creationId="{F2DB3F5B-E571-F8F7-DB1C-65EF3DBB4477}"/>
          </ac:spMkLst>
        </pc:spChg>
        <pc:spChg chg="mod">
          <ac:chgData name="Thomas Burchell" userId="S::tburchell@valleycreditunion.com::c24730bc-7761-4563-9360-78682ac41c75" providerId="AD" clId="Web-{C0F5044D-39DE-5C65-6815-2F4D9C99CA5B}" dt="2026-06-01T13:06:52.965" v="16"/>
          <ac:spMkLst>
            <pc:docMk/>
            <pc:sldMk cId="775041260" sldId="2567"/>
            <ac:spMk id="6" creationId="{021F2159-415C-E5DC-0B9B-C3912EFD8834}"/>
          </ac:spMkLst>
        </pc:spChg>
        <pc:spChg chg="mod">
          <ac:chgData name="Thomas Burchell" userId="S::tburchell@valleycreditunion.com::c24730bc-7761-4563-9360-78682ac41c75" providerId="AD" clId="Web-{C0F5044D-39DE-5C65-6815-2F4D9C99CA5B}" dt="2026-06-01T13:06:52.965" v="16"/>
          <ac:spMkLst>
            <pc:docMk/>
            <pc:sldMk cId="775041260" sldId="2567"/>
            <ac:spMk id="7" creationId="{258AFC1C-88D1-092F-029F-E6AEC7BFBB21}"/>
          </ac:spMkLst>
        </pc:spChg>
        <pc:spChg chg="add mod">
          <ac:chgData name="Thomas Burchell" userId="S::tburchell@valleycreditunion.com::c24730bc-7761-4563-9360-78682ac41c75" providerId="AD" clId="Web-{C0F5044D-39DE-5C65-6815-2F4D9C99CA5B}" dt="2026-06-01T13:06:52.965" v="16"/>
          <ac:spMkLst>
            <pc:docMk/>
            <pc:sldMk cId="775041260" sldId="2567"/>
            <ac:spMk id="13" creationId="{1D4BD496-AD84-5041-E4A4-E0883B5387BE}"/>
          </ac:spMkLst>
        </pc:spChg>
        <pc:picChg chg="add">
          <ac:chgData name="Thomas Burchell" userId="S::tburchell@valleycreditunion.com::c24730bc-7761-4563-9360-78682ac41c75" providerId="AD" clId="Web-{C0F5044D-39DE-5C65-6815-2F4D9C99CA5B}" dt="2026-06-01T13:06:52.965" v="16"/>
          <ac:picMkLst>
            <pc:docMk/>
            <pc:sldMk cId="775041260" sldId="2567"/>
            <ac:picMk id="9" creationId="{A5F4BCAF-5042-FA31-E347-53D144079D7B}"/>
          </ac:picMkLst>
        </pc:picChg>
      </pc:sldChg>
      <pc:sldChg chg="modSp">
        <pc:chgData name="Thomas Burchell" userId="S::tburchell@valleycreditunion.com::c24730bc-7761-4563-9360-78682ac41c75" providerId="AD" clId="Web-{C0F5044D-39DE-5C65-6815-2F4D9C99CA5B}" dt="2026-06-01T13:07:10.949" v="17"/>
        <pc:sldMkLst>
          <pc:docMk/>
          <pc:sldMk cId="2019636482" sldId="2568"/>
        </pc:sldMkLst>
        <pc:spChg chg="mod">
          <ac:chgData name="Thomas Burchell" userId="S::tburchell@valleycreditunion.com::c24730bc-7761-4563-9360-78682ac41c75" providerId="AD" clId="Web-{C0F5044D-39DE-5C65-6815-2F4D9C99CA5B}" dt="2026-06-01T13:07:10.949" v="17"/>
          <ac:spMkLst>
            <pc:docMk/>
            <pc:sldMk cId="2019636482" sldId="2568"/>
            <ac:spMk id="7" creationId="{0690B7AF-9831-CC98-6DF3-AE8DC2E22612}"/>
          </ac:spMkLst>
        </pc:spChg>
        <pc:picChg chg="mod">
          <ac:chgData name="Thomas Burchell" userId="S::tburchell@valleycreditunion.com::c24730bc-7761-4563-9360-78682ac41c75" providerId="AD" clId="Web-{C0F5044D-39DE-5C65-6815-2F4D9C99CA5B}" dt="2026-06-01T13:07:10.949" v="17"/>
          <ac:picMkLst>
            <pc:docMk/>
            <pc:sldMk cId="2019636482" sldId="2568"/>
            <ac:picMk id="8" creationId="{DEF57C27-C63B-4602-AABC-28CE9AA74788}"/>
          </ac:picMkLst>
        </pc:picChg>
      </pc:sldChg>
      <pc:sldChg chg="modSp">
        <pc:chgData name="Thomas Burchell" userId="S::tburchell@valleycreditunion.com::c24730bc-7761-4563-9360-78682ac41c75" providerId="AD" clId="Web-{C0F5044D-39DE-5C65-6815-2F4D9C99CA5B}" dt="2026-06-01T13:07:30.559" v="18"/>
        <pc:sldMkLst>
          <pc:docMk/>
          <pc:sldMk cId="3227851051" sldId="2569"/>
        </pc:sldMkLst>
        <pc:spChg chg="mod">
          <ac:chgData name="Thomas Burchell" userId="S::tburchell@valleycreditunion.com::c24730bc-7761-4563-9360-78682ac41c75" providerId="AD" clId="Web-{C0F5044D-39DE-5C65-6815-2F4D9C99CA5B}" dt="2026-06-01T13:07:30.559" v="18"/>
          <ac:spMkLst>
            <pc:docMk/>
            <pc:sldMk cId="3227851051" sldId="2569"/>
            <ac:spMk id="7" creationId="{70F4231E-42CB-191D-2602-C8701F99530B}"/>
          </ac:spMkLst>
        </pc:spChg>
        <pc:picChg chg="mod">
          <ac:chgData name="Thomas Burchell" userId="S::tburchell@valleycreditunion.com::c24730bc-7761-4563-9360-78682ac41c75" providerId="AD" clId="Web-{C0F5044D-39DE-5C65-6815-2F4D9C99CA5B}" dt="2026-06-01T13:07:30.559" v="18"/>
          <ac:picMkLst>
            <pc:docMk/>
            <pc:sldMk cId="3227851051" sldId="2569"/>
            <ac:picMk id="8" creationId="{DBFFD7E0-16D4-4596-B268-183793AE6275}"/>
          </ac:picMkLst>
        </pc:picChg>
      </pc:sldChg>
      <pc:sldChg chg="modSp mod modClrScheme chgLayout">
        <pc:chgData name="Thomas Burchell" userId="S::tburchell@valleycreditunion.com::c24730bc-7761-4563-9360-78682ac41c75" providerId="AD" clId="Web-{C0F5044D-39DE-5C65-6815-2F4D9C99CA5B}" dt="2026-06-01T13:07:43.809" v="19"/>
        <pc:sldMkLst>
          <pc:docMk/>
          <pc:sldMk cId="788871981" sldId="2570"/>
        </pc:sldMkLst>
        <pc:spChg chg="mod">
          <ac:chgData name="Thomas Burchell" userId="S::tburchell@valleycreditunion.com::c24730bc-7761-4563-9360-78682ac41c75" providerId="AD" clId="Web-{C0F5044D-39DE-5C65-6815-2F4D9C99CA5B}" dt="2026-06-01T13:07:43.809" v="19"/>
          <ac:spMkLst>
            <pc:docMk/>
            <pc:sldMk cId="788871981" sldId="2570"/>
            <ac:spMk id="2" creationId="{E50A538E-8F65-5C9F-8FF0-CC5CC1BAA050}"/>
          </ac:spMkLst>
        </pc:spChg>
        <pc:spChg chg="mod">
          <ac:chgData name="Thomas Burchell" userId="S::tburchell@valleycreditunion.com::c24730bc-7761-4563-9360-78682ac41c75" providerId="AD" clId="Web-{C0F5044D-39DE-5C65-6815-2F4D9C99CA5B}" dt="2026-06-01T13:07:43.809" v="19"/>
          <ac:spMkLst>
            <pc:docMk/>
            <pc:sldMk cId="788871981" sldId="2570"/>
            <ac:spMk id="3" creationId="{53EA551C-6B27-A38B-8410-6A793EBA7BE4}"/>
          </ac:spMkLst>
        </pc:spChg>
        <pc:spChg chg="mod">
          <ac:chgData name="Thomas Burchell" userId="S::tburchell@valleycreditunion.com::c24730bc-7761-4563-9360-78682ac41c75" providerId="AD" clId="Web-{C0F5044D-39DE-5C65-6815-2F4D9C99CA5B}" dt="2026-06-01T13:07:43.809" v="19"/>
          <ac:spMkLst>
            <pc:docMk/>
            <pc:sldMk cId="788871981" sldId="2570"/>
            <ac:spMk id="4" creationId="{EBA160A3-2EDD-20C7-A4E7-4D1B4CA8FAB9}"/>
          </ac:spMkLst>
        </pc:spChg>
        <pc:spChg chg="mod">
          <ac:chgData name="Thomas Burchell" userId="S::tburchell@valleycreditunion.com::c24730bc-7761-4563-9360-78682ac41c75" providerId="AD" clId="Web-{C0F5044D-39DE-5C65-6815-2F4D9C99CA5B}" dt="2026-06-01T13:07:43.809" v="19"/>
          <ac:spMkLst>
            <pc:docMk/>
            <pc:sldMk cId="788871981" sldId="2570"/>
            <ac:spMk id="5" creationId="{6BA7F801-3D1D-FC50-4175-F46B485BE422}"/>
          </ac:spMkLst>
        </pc:spChg>
        <pc:spChg chg="mod">
          <ac:chgData name="Thomas Burchell" userId="S::tburchell@valleycreditunion.com::c24730bc-7761-4563-9360-78682ac41c75" providerId="AD" clId="Web-{C0F5044D-39DE-5C65-6815-2F4D9C99CA5B}" dt="2026-06-01T13:07:43.809" v="19"/>
          <ac:spMkLst>
            <pc:docMk/>
            <pc:sldMk cId="788871981" sldId="2570"/>
            <ac:spMk id="7" creationId="{940751CC-2DFF-5D5C-E637-0352E796D6D2}"/>
          </ac:spMkLst>
        </pc:spChg>
        <pc:picChg chg="mod ord">
          <ac:chgData name="Thomas Burchell" userId="S::tburchell@valleycreditunion.com::c24730bc-7761-4563-9360-78682ac41c75" providerId="AD" clId="Web-{C0F5044D-39DE-5C65-6815-2F4D9C99CA5B}" dt="2026-06-01T13:07:43.809" v="19"/>
          <ac:picMkLst>
            <pc:docMk/>
            <pc:sldMk cId="788871981" sldId="2570"/>
            <ac:picMk id="8" creationId="{8D20DB62-2E55-492B-B0AE-D118EE45FA8F}"/>
          </ac:picMkLst>
        </pc:picChg>
      </pc:sldChg>
      <pc:sldChg chg="addSp modSp mod chgLayout">
        <pc:chgData name="Thomas Burchell" userId="S::tburchell@valleycreditunion.com::c24730bc-7761-4563-9360-78682ac41c75" providerId="AD" clId="Web-{C0F5044D-39DE-5C65-6815-2F4D9C99CA5B}" dt="2026-06-01T13:07:59.387" v="20"/>
        <pc:sldMkLst>
          <pc:docMk/>
          <pc:sldMk cId="3534512250" sldId="2571"/>
        </pc:sldMkLst>
        <pc:spChg chg="mod">
          <ac:chgData name="Thomas Burchell" userId="S::tburchell@valleycreditunion.com::c24730bc-7761-4563-9360-78682ac41c75" providerId="AD" clId="Web-{C0F5044D-39DE-5C65-6815-2F4D9C99CA5B}" dt="2026-06-01T13:07:59.387" v="20"/>
          <ac:spMkLst>
            <pc:docMk/>
            <pc:sldMk cId="3534512250" sldId="2571"/>
            <ac:spMk id="2" creationId="{D65E6BFE-CD05-EC95-4630-934A9C726BED}"/>
          </ac:spMkLst>
        </pc:spChg>
        <pc:spChg chg="mod">
          <ac:chgData name="Thomas Burchell" userId="S::tburchell@valleycreditunion.com::c24730bc-7761-4563-9360-78682ac41c75" providerId="AD" clId="Web-{C0F5044D-39DE-5C65-6815-2F4D9C99CA5B}" dt="2026-06-01T13:07:59.387" v="20"/>
          <ac:spMkLst>
            <pc:docMk/>
            <pc:sldMk cId="3534512250" sldId="2571"/>
            <ac:spMk id="4" creationId="{EC7CA817-A5CB-C876-30DE-3B00AD88A17F}"/>
          </ac:spMkLst>
        </pc:spChg>
        <pc:spChg chg="mod">
          <ac:chgData name="Thomas Burchell" userId="S::tburchell@valleycreditunion.com::c24730bc-7761-4563-9360-78682ac41c75" providerId="AD" clId="Web-{C0F5044D-39DE-5C65-6815-2F4D9C99CA5B}" dt="2026-06-01T13:07:59.387" v="20"/>
          <ac:spMkLst>
            <pc:docMk/>
            <pc:sldMk cId="3534512250" sldId="2571"/>
            <ac:spMk id="6" creationId="{A1B3B282-E790-A2D8-B561-13CAC44EBEFC}"/>
          </ac:spMkLst>
        </pc:spChg>
        <pc:spChg chg="mod">
          <ac:chgData name="Thomas Burchell" userId="S::tburchell@valleycreditunion.com::c24730bc-7761-4563-9360-78682ac41c75" providerId="AD" clId="Web-{C0F5044D-39DE-5C65-6815-2F4D9C99CA5B}" dt="2026-06-01T13:07:59.387" v="20"/>
          <ac:spMkLst>
            <pc:docMk/>
            <pc:sldMk cId="3534512250" sldId="2571"/>
            <ac:spMk id="7" creationId="{C3EFB724-9A69-0C47-9BB5-DC5C961FD646}"/>
          </ac:spMkLst>
        </pc:spChg>
        <pc:spChg chg="add mod">
          <ac:chgData name="Thomas Burchell" userId="S::tburchell@valleycreditunion.com::c24730bc-7761-4563-9360-78682ac41c75" providerId="AD" clId="Web-{C0F5044D-39DE-5C65-6815-2F4D9C99CA5B}" dt="2026-06-01T13:07:59.387" v="20"/>
          <ac:spMkLst>
            <pc:docMk/>
            <pc:sldMk cId="3534512250" sldId="2571"/>
            <ac:spMk id="13" creationId="{508FECD5-F678-1490-7E37-F6206BD52532}"/>
          </ac:spMkLst>
        </pc:spChg>
        <pc:picChg chg="add">
          <ac:chgData name="Thomas Burchell" userId="S::tburchell@valleycreditunion.com::c24730bc-7761-4563-9360-78682ac41c75" providerId="AD" clId="Web-{C0F5044D-39DE-5C65-6815-2F4D9C99CA5B}" dt="2026-06-01T13:07:59.387" v="20"/>
          <ac:picMkLst>
            <pc:docMk/>
            <pc:sldMk cId="3534512250" sldId="2571"/>
            <ac:picMk id="9" creationId="{B85D91D4-AF46-2F8D-111F-5FDD899F16E2}"/>
          </ac:picMkLst>
        </pc:picChg>
      </pc:sldChg>
      <pc:sldChg chg="modSp mod modClrScheme chgLayout">
        <pc:chgData name="Thomas Burchell" userId="S::tburchell@valleycreditunion.com::c24730bc-7761-4563-9360-78682ac41c75" providerId="AD" clId="Web-{C0F5044D-39DE-5C65-6815-2F4D9C99CA5B}" dt="2026-06-01T13:08:14.418" v="21"/>
        <pc:sldMkLst>
          <pc:docMk/>
          <pc:sldMk cId="3972676129" sldId="2572"/>
        </pc:sldMkLst>
        <pc:spChg chg="mod">
          <ac:chgData name="Thomas Burchell" userId="S::tburchell@valleycreditunion.com::c24730bc-7761-4563-9360-78682ac41c75" providerId="AD" clId="Web-{C0F5044D-39DE-5C65-6815-2F4D9C99CA5B}" dt="2026-06-01T13:08:14.418" v="21"/>
          <ac:spMkLst>
            <pc:docMk/>
            <pc:sldMk cId="3972676129" sldId="2572"/>
            <ac:spMk id="2" creationId="{4EC92E56-2B65-043D-B440-9F838D28C4EF}"/>
          </ac:spMkLst>
        </pc:spChg>
        <pc:spChg chg="mod">
          <ac:chgData name="Thomas Burchell" userId="S::tburchell@valleycreditunion.com::c24730bc-7761-4563-9360-78682ac41c75" providerId="AD" clId="Web-{C0F5044D-39DE-5C65-6815-2F4D9C99CA5B}" dt="2026-06-01T13:08:14.418" v="21"/>
          <ac:spMkLst>
            <pc:docMk/>
            <pc:sldMk cId="3972676129" sldId="2572"/>
            <ac:spMk id="3" creationId="{9E354562-3CE8-FBDF-4E95-101209979688}"/>
          </ac:spMkLst>
        </pc:spChg>
        <pc:spChg chg="mod">
          <ac:chgData name="Thomas Burchell" userId="S::tburchell@valleycreditunion.com::c24730bc-7761-4563-9360-78682ac41c75" providerId="AD" clId="Web-{C0F5044D-39DE-5C65-6815-2F4D9C99CA5B}" dt="2026-06-01T13:08:14.418" v="21"/>
          <ac:spMkLst>
            <pc:docMk/>
            <pc:sldMk cId="3972676129" sldId="2572"/>
            <ac:spMk id="4" creationId="{CA63645A-8A77-AA00-5AF8-5B0F6C8648F9}"/>
          </ac:spMkLst>
        </pc:spChg>
        <pc:spChg chg="mod">
          <ac:chgData name="Thomas Burchell" userId="S::tburchell@valleycreditunion.com::c24730bc-7761-4563-9360-78682ac41c75" providerId="AD" clId="Web-{C0F5044D-39DE-5C65-6815-2F4D9C99CA5B}" dt="2026-06-01T13:08:14.418" v="21"/>
          <ac:spMkLst>
            <pc:docMk/>
            <pc:sldMk cId="3972676129" sldId="2572"/>
            <ac:spMk id="5" creationId="{0D560A35-7CE1-DCBC-C4D7-3E9CC98BDB47}"/>
          </ac:spMkLst>
        </pc:spChg>
        <pc:spChg chg="mod">
          <ac:chgData name="Thomas Burchell" userId="S::tburchell@valleycreditunion.com::c24730bc-7761-4563-9360-78682ac41c75" providerId="AD" clId="Web-{C0F5044D-39DE-5C65-6815-2F4D9C99CA5B}" dt="2026-06-01T13:08:14.418" v="21"/>
          <ac:spMkLst>
            <pc:docMk/>
            <pc:sldMk cId="3972676129" sldId="2572"/>
            <ac:spMk id="7" creationId="{6A4A8C06-1523-67CA-0CF9-3BAE8EFDBFDB}"/>
          </ac:spMkLst>
        </pc:spChg>
        <pc:picChg chg="mod ord">
          <ac:chgData name="Thomas Burchell" userId="S::tburchell@valleycreditunion.com::c24730bc-7761-4563-9360-78682ac41c75" providerId="AD" clId="Web-{C0F5044D-39DE-5C65-6815-2F4D9C99CA5B}" dt="2026-06-01T13:08:14.418" v="21"/>
          <ac:picMkLst>
            <pc:docMk/>
            <pc:sldMk cId="3972676129" sldId="2572"/>
            <ac:picMk id="8" creationId="{F64AE721-6920-4039-9604-A7EAB49CFFCE}"/>
          </ac:picMkLst>
        </pc:picChg>
      </pc:sldChg>
      <pc:sldChg chg="modSp mod modClrScheme chgLayout">
        <pc:chgData name="Thomas Burchell" userId="S::tburchell@valleycreditunion.com::c24730bc-7761-4563-9360-78682ac41c75" providerId="AD" clId="Web-{C0F5044D-39DE-5C65-6815-2F4D9C99CA5B}" dt="2026-06-01T13:08:26.355" v="22"/>
        <pc:sldMkLst>
          <pc:docMk/>
          <pc:sldMk cId="933198867" sldId="2573"/>
        </pc:sldMkLst>
        <pc:spChg chg="mod">
          <ac:chgData name="Thomas Burchell" userId="S::tburchell@valleycreditunion.com::c24730bc-7761-4563-9360-78682ac41c75" providerId="AD" clId="Web-{C0F5044D-39DE-5C65-6815-2F4D9C99CA5B}" dt="2026-06-01T13:08:26.355" v="22"/>
          <ac:spMkLst>
            <pc:docMk/>
            <pc:sldMk cId="933198867" sldId="2573"/>
            <ac:spMk id="2" creationId="{93D6AAD9-439D-AD89-9956-1EAC3E37DB74}"/>
          </ac:spMkLst>
        </pc:spChg>
        <pc:spChg chg="mod">
          <ac:chgData name="Thomas Burchell" userId="S::tburchell@valleycreditunion.com::c24730bc-7761-4563-9360-78682ac41c75" providerId="AD" clId="Web-{C0F5044D-39DE-5C65-6815-2F4D9C99CA5B}" dt="2026-06-01T13:08:26.355" v="22"/>
          <ac:spMkLst>
            <pc:docMk/>
            <pc:sldMk cId="933198867" sldId="2573"/>
            <ac:spMk id="3" creationId="{67489047-FADB-456B-1570-8710E3ED118C}"/>
          </ac:spMkLst>
        </pc:spChg>
        <pc:spChg chg="mod">
          <ac:chgData name="Thomas Burchell" userId="S::tburchell@valleycreditunion.com::c24730bc-7761-4563-9360-78682ac41c75" providerId="AD" clId="Web-{C0F5044D-39DE-5C65-6815-2F4D9C99CA5B}" dt="2026-06-01T13:08:26.355" v="22"/>
          <ac:spMkLst>
            <pc:docMk/>
            <pc:sldMk cId="933198867" sldId="2573"/>
            <ac:spMk id="4" creationId="{8718EAC6-90D7-EA51-45FB-796DD688084B}"/>
          </ac:spMkLst>
        </pc:spChg>
        <pc:spChg chg="mod">
          <ac:chgData name="Thomas Burchell" userId="S::tburchell@valleycreditunion.com::c24730bc-7761-4563-9360-78682ac41c75" providerId="AD" clId="Web-{C0F5044D-39DE-5C65-6815-2F4D9C99CA5B}" dt="2026-06-01T13:08:26.355" v="22"/>
          <ac:spMkLst>
            <pc:docMk/>
            <pc:sldMk cId="933198867" sldId="2573"/>
            <ac:spMk id="5" creationId="{4846DB48-06D1-9CE3-01B4-1A2D812B00AE}"/>
          </ac:spMkLst>
        </pc:spChg>
        <pc:spChg chg="mod">
          <ac:chgData name="Thomas Burchell" userId="S::tburchell@valleycreditunion.com::c24730bc-7761-4563-9360-78682ac41c75" providerId="AD" clId="Web-{C0F5044D-39DE-5C65-6815-2F4D9C99CA5B}" dt="2026-06-01T13:08:26.355" v="22"/>
          <ac:spMkLst>
            <pc:docMk/>
            <pc:sldMk cId="933198867" sldId="2573"/>
            <ac:spMk id="7" creationId="{8CB173B2-3A9B-2003-76FC-27C119BB4D8F}"/>
          </ac:spMkLst>
        </pc:spChg>
        <pc:picChg chg="mod">
          <ac:chgData name="Thomas Burchell" userId="S::tburchell@valleycreditunion.com::c24730bc-7761-4563-9360-78682ac41c75" providerId="AD" clId="Web-{C0F5044D-39DE-5C65-6815-2F4D9C99CA5B}" dt="2026-06-01T13:08:26.355" v="22"/>
          <ac:picMkLst>
            <pc:docMk/>
            <pc:sldMk cId="933198867" sldId="2573"/>
            <ac:picMk id="8" creationId="{07ED966B-5A39-466F-B0ED-197C78C93978}"/>
          </ac:picMkLst>
        </pc:picChg>
      </pc:sldChg>
      <pc:sldChg chg="new del">
        <pc:chgData name="Thomas Burchell" userId="S::tburchell@valleycreditunion.com::c24730bc-7761-4563-9360-78682ac41c75" providerId="AD" clId="Web-{C0F5044D-39DE-5C65-6815-2F4D9C99CA5B}" dt="2026-06-01T13:09:30.527" v="24"/>
        <pc:sldMkLst>
          <pc:docMk/>
          <pc:sldMk cId="3282941742" sldId="2574"/>
        </pc:sldMkLst>
      </pc:sldChg>
      <pc:sldChg chg="addSp delSp modSp new mod modClrScheme chgLayout">
        <pc:chgData name="Thomas Burchell" userId="S::tburchell@valleycreditunion.com::c24730bc-7761-4563-9360-78682ac41c75" providerId="AD" clId="Web-{C0F5044D-39DE-5C65-6815-2F4D9C99CA5B}" dt="2026-06-01T13:10:14.652" v="27"/>
        <pc:sldMkLst>
          <pc:docMk/>
          <pc:sldMk cId="3956551332" sldId="2574"/>
        </pc:sldMkLst>
        <pc:spChg chg="del">
          <ac:chgData name="Thomas Burchell" userId="S::tburchell@valleycreditunion.com::c24730bc-7761-4563-9360-78682ac41c75" providerId="AD" clId="Web-{C0F5044D-39DE-5C65-6815-2F4D9C99CA5B}" dt="2026-06-01T13:10:14.652" v="27"/>
          <ac:spMkLst>
            <pc:docMk/>
            <pc:sldMk cId="3956551332" sldId="2574"/>
            <ac:spMk id="2" creationId="{20B71045-D296-0264-8ADB-11A5D5E84D13}"/>
          </ac:spMkLst>
        </pc:spChg>
        <pc:spChg chg="del">
          <ac:chgData name="Thomas Burchell" userId="S::tburchell@valleycreditunion.com::c24730bc-7761-4563-9360-78682ac41c75" providerId="AD" clId="Web-{C0F5044D-39DE-5C65-6815-2F4D9C99CA5B}" dt="2026-06-01T13:09:39.168" v="26"/>
          <ac:spMkLst>
            <pc:docMk/>
            <pc:sldMk cId="3956551332" sldId="2574"/>
            <ac:spMk id="3" creationId="{E5C9844E-80BE-0017-E729-97BB0F7324A6}"/>
          </ac:spMkLst>
        </pc:spChg>
        <pc:spChg chg="mod">
          <ac:chgData name="Thomas Burchell" userId="S::tburchell@valleycreditunion.com::c24730bc-7761-4563-9360-78682ac41c75" providerId="AD" clId="Web-{C0F5044D-39DE-5C65-6815-2F4D9C99CA5B}" dt="2026-06-01T13:10:14.652" v="27"/>
          <ac:spMkLst>
            <pc:docMk/>
            <pc:sldMk cId="3956551332" sldId="2574"/>
            <ac:spMk id="4" creationId="{A8FFA6A1-4C97-EED2-C184-84C94670C4DA}"/>
          </ac:spMkLst>
        </pc:spChg>
        <pc:spChg chg="mod">
          <ac:chgData name="Thomas Burchell" userId="S::tburchell@valleycreditunion.com::c24730bc-7761-4563-9360-78682ac41c75" providerId="AD" clId="Web-{C0F5044D-39DE-5C65-6815-2F4D9C99CA5B}" dt="2026-06-01T13:10:14.652" v="27"/>
          <ac:spMkLst>
            <pc:docMk/>
            <pc:sldMk cId="3956551332" sldId="2574"/>
            <ac:spMk id="5" creationId="{38A1DAB7-E8CA-DD8E-6970-E56F3EBEF79A}"/>
          </ac:spMkLst>
        </pc:spChg>
        <pc:spChg chg="mod">
          <ac:chgData name="Thomas Burchell" userId="S::tburchell@valleycreditunion.com::c24730bc-7761-4563-9360-78682ac41c75" providerId="AD" clId="Web-{C0F5044D-39DE-5C65-6815-2F4D9C99CA5B}" dt="2026-06-01T13:10:14.652" v="27"/>
          <ac:spMkLst>
            <pc:docMk/>
            <pc:sldMk cId="3956551332" sldId="2574"/>
            <ac:spMk id="6" creationId="{FD4C3E71-D49E-EFA6-D880-71BC1004ABDC}"/>
          </ac:spMkLst>
        </pc:spChg>
        <pc:spChg chg="del">
          <ac:chgData name="Thomas Burchell" userId="S::tburchell@valleycreditunion.com::c24730bc-7761-4563-9360-78682ac41c75" providerId="AD" clId="Web-{C0F5044D-39DE-5C65-6815-2F4D9C99CA5B}" dt="2026-06-01T13:10:14.652" v="27"/>
          <ac:spMkLst>
            <pc:docMk/>
            <pc:sldMk cId="3956551332" sldId="2574"/>
            <ac:spMk id="7" creationId="{34184CA6-9A45-5185-5383-AD6C2612CC5D}"/>
          </ac:spMkLst>
        </pc:spChg>
        <pc:spChg chg="add mod">
          <ac:chgData name="Thomas Burchell" userId="S::tburchell@valleycreditunion.com::c24730bc-7761-4563-9360-78682ac41c75" providerId="AD" clId="Web-{C0F5044D-39DE-5C65-6815-2F4D9C99CA5B}" dt="2026-06-01T13:10:14.652" v="27"/>
          <ac:spMkLst>
            <pc:docMk/>
            <pc:sldMk cId="3956551332" sldId="2574"/>
            <ac:spMk id="12" creationId="{23160C74-AF99-4879-A18C-4BA310A0A6EC}"/>
          </ac:spMkLst>
        </pc:spChg>
        <pc:spChg chg="add mod">
          <ac:chgData name="Thomas Burchell" userId="S::tburchell@valleycreditunion.com::c24730bc-7761-4563-9360-78682ac41c75" providerId="AD" clId="Web-{C0F5044D-39DE-5C65-6815-2F4D9C99CA5B}" dt="2026-06-01T13:10:14.652" v="27"/>
          <ac:spMkLst>
            <pc:docMk/>
            <pc:sldMk cId="3956551332" sldId="2574"/>
            <ac:spMk id="14" creationId="{F4FFE46B-33BD-83C6-0777-7D5344DD9A1C}"/>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E8D96E-71FE-4EA5-BB32-EA9B0BB4CA1D}" type="doc">
      <dgm:prSet loTypeId="urn:microsoft.com/office/officeart/2024/3/layout/verticalVisualTextBlock1" loCatId="Picture" qsTypeId="urn:microsoft.com/office/officeart/2005/8/quickstyle/simple4" qsCatId="simple" csTypeId="urn:microsoft.com/office/officeart/2005/8/colors/accent3_2" csCatId="accent3" phldr="1"/>
      <dgm:spPr/>
      <dgm:t>
        <a:bodyPr/>
        <a:lstStyle/>
        <a:p>
          <a:endParaRPr lang="en-US"/>
        </a:p>
      </dgm:t>
    </dgm:pt>
    <dgm:pt modelId="{A2875791-4694-4D51-B688-293C3CB0C6A9}">
      <dgm:prSet/>
      <dgm:spPr/>
      <dgm:t>
        <a:bodyPr/>
        <a:lstStyle/>
        <a:p>
          <a:pPr>
            <a:lnSpc>
              <a:spcPct val="100000"/>
            </a:lnSpc>
            <a:defRPr b="1"/>
          </a:pPr>
          <a:r>
            <a:rPr lang="en-US"/>
            <a:t>Modern Server Platforms</a:t>
          </a:r>
        </a:p>
      </dgm:t>
    </dgm:pt>
    <dgm:pt modelId="{CCE7120E-D3B1-482E-826E-41A7DDE1B82B}" type="parTrans" cxnId="{BA163B81-C100-411A-9359-654FD8FE97D9}">
      <dgm:prSet/>
      <dgm:spPr/>
      <dgm:t>
        <a:bodyPr/>
        <a:lstStyle/>
        <a:p>
          <a:endParaRPr lang="en-US"/>
        </a:p>
      </dgm:t>
    </dgm:pt>
    <dgm:pt modelId="{34BF53A3-0685-4800-89CB-5F936444F1F9}" type="sibTrans" cxnId="{BA163B81-C100-411A-9359-654FD8FE97D9}">
      <dgm:prSet/>
      <dgm:spPr/>
      <dgm:t>
        <a:bodyPr/>
        <a:lstStyle/>
        <a:p>
          <a:pPr>
            <a:lnSpc>
              <a:spcPct val="100000"/>
            </a:lnSpc>
            <a:defRPr b="1"/>
          </a:pPr>
          <a:endParaRPr lang="en-US"/>
        </a:p>
      </dgm:t>
    </dgm:pt>
    <dgm:pt modelId="{E51A5C31-5143-475A-9588-2F6D02BF4038}">
      <dgm:prSet/>
      <dgm:spPr/>
      <dgm:t>
        <a:bodyPr/>
        <a:lstStyle/>
        <a:p>
          <a:pPr>
            <a:lnSpc>
              <a:spcPct val="100000"/>
            </a:lnSpc>
          </a:pPr>
          <a:r>
            <a:rPr lang="en-US"/>
            <a:t>Three servers run Windows Server 2019, providing a stable and well-supported platform for core business applications.</a:t>
          </a:r>
        </a:p>
      </dgm:t>
    </dgm:pt>
    <dgm:pt modelId="{1B21630E-A1B7-4A51-BA62-4B2A2EF99930}" type="parTrans" cxnId="{48399F90-0587-45BE-AE69-7DDF5B0991B2}">
      <dgm:prSet/>
      <dgm:spPr/>
      <dgm:t>
        <a:bodyPr/>
        <a:lstStyle/>
        <a:p>
          <a:endParaRPr lang="en-US"/>
        </a:p>
      </dgm:t>
    </dgm:pt>
    <dgm:pt modelId="{466CACE5-35E8-44AF-85DC-792FBD8D4530}" type="sibTrans" cxnId="{48399F90-0587-45BE-AE69-7DDF5B0991B2}">
      <dgm:prSet/>
      <dgm:spPr/>
      <dgm:t>
        <a:bodyPr/>
        <a:lstStyle/>
        <a:p>
          <a:endParaRPr lang="en-US"/>
        </a:p>
      </dgm:t>
    </dgm:pt>
    <dgm:pt modelId="{52CE0F0E-81B6-4C40-B183-F141EF90AED5}">
      <dgm:prSet/>
      <dgm:spPr/>
      <dgm:t>
        <a:bodyPr/>
        <a:lstStyle/>
        <a:p>
          <a:pPr>
            <a:lnSpc>
              <a:spcPct val="100000"/>
            </a:lnSpc>
            <a:defRPr b="1"/>
          </a:pPr>
          <a:r>
            <a:rPr lang="en-US"/>
            <a:t>Legacy Server Risks</a:t>
          </a:r>
        </a:p>
      </dgm:t>
    </dgm:pt>
    <dgm:pt modelId="{5C3B84CC-82B2-4ACE-B2C8-D23D399CBB96}" type="parTrans" cxnId="{A7043EE2-6837-488C-8748-72953E15A420}">
      <dgm:prSet/>
      <dgm:spPr/>
      <dgm:t>
        <a:bodyPr/>
        <a:lstStyle/>
        <a:p>
          <a:endParaRPr lang="en-US"/>
        </a:p>
      </dgm:t>
    </dgm:pt>
    <dgm:pt modelId="{C11DB9DC-786B-4E5B-BC5F-849C137838D9}" type="sibTrans" cxnId="{A7043EE2-6837-488C-8748-72953E15A420}">
      <dgm:prSet/>
      <dgm:spPr/>
      <dgm:t>
        <a:bodyPr/>
        <a:lstStyle/>
        <a:p>
          <a:pPr>
            <a:lnSpc>
              <a:spcPct val="100000"/>
            </a:lnSpc>
            <a:defRPr b="1"/>
          </a:pPr>
          <a:endParaRPr lang="en-US"/>
        </a:p>
      </dgm:t>
    </dgm:pt>
    <dgm:pt modelId="{2ED13020-A03A-4A31-8FD4-C495A881FB04}">
      <dgm:prSet/>
      <dgm:spPr/>
      <dgm:t>
        <a:bodyPr/>
        <a:lstStyle/>
        <a:p>
          <a:pPr>
            <a:lnSpc>
              <a:spcPct val="100000"/>
            </a:lnSpc>
          </a:pPr>
          <a:r>
            <a:rPr lang="en-US"/>
            <a:t>Two servers using Windows Server 2012 R2 pose increased operational and security risks due to reduced vendor support.</a:t>
          </a:r>
        </a:p>
      </dgm:t>
    </dgm:pt>
    <dgm:pt modelId="{705F5899-F068-4053-8F5B-B86715CBF29F}" type="parTrans" cxnId="{A2997BC1-A79F-430C-B6ED-896F3962B02D}">
      <dgm:prSet/>
      <dgm:spPr/>
      <dgm:t>
        <a:bodyPr/>
        <a:lstStyle/>
        <a:p>
          <a:endParaRPr lang="en-US"/>
        </a:p>
      </dgm:t>
    </dgm:pt>
    <dgm:pt modelId="{A5C66CE2-4F15-4E40-A300-E3CE03259E21}" type="sibTrans" cxnId="{A2997BC1-A79F-430C-B6ED-896F3962B02D}">
      <dgm:prSet/>
      <dgm:spPr/>
      <dgm:t>
        <a:bodyPr/>
        <a:lstStyle/>
        <a:p>
          <a:endParaRPr lang="en-US"/>
        </a:p>
      </dgm:t>
    </dgm:pt>
    <dgm:pt modelId="{585D7026-A667-4125-A0F2-BA7BEAE5845E}">
      <dgm:prSet/>
      <dgm:spPr/>
      <dgm:t>
        <a:bodyPr/>
        <a:lstStyle/>
        <a:p>
          <a:pPr>
            <a:lnSpc>
              <a:spcPct val="100000"/>
            </a:lnSpc>
            <a:defRPr b="1"/>
          </a:pPr>
          <a:r>
            <a:rPr lang="en-US"/>
            <a:t>Need for Modernization</a:t>
          </a:r>
        </a:p>
      </dgm:t>
    </dgm:pt>
    <dgm:pt modelId="{4637DC8A-D049-4CA5-8BDD-749F482433AA}" type="parTrans" cxnId="{39793773-DE96-420D-9585-86A1DCE9388D}">
      <dgm:prSet/>
      <dgm:spPr/>
      <dgm:t>
        <a:bodyPr/>
        <a:lstStyle/>
        <a:p>
          <a:endParaRPr lang="en-US"/>
        </a:p>
      </dgm:t>
    </dgm:pt>
    <dgm:pt modelId="{9966ABC2-CC02-451D-9370-3D677028BEC8}" type="sibTrans" cxnId="{39793773-DE96-420D-9585-86A1DCE9388D}">
      <dgm:prSet/>
      <dgm:spPr/>
      <dgm:t>
        <a:bodyPr/>
        <a:lstStyle/>
        <a:p>
          <a:endParaRPr lang="en-US"/>
        </a:p>
      </dgm:t>
    </dgm:pt>
    <dgm:pt modelId="{E2422E8B-5DE2-4029-8027-2FFE11273304}">
      <dgm:prSet/>
      <dgm:spPr/>
      <dgm:t>
        <a:bodyPr/>
        <a:lstStyle/>
        <a:p>
          <a:pPr>
            <a:lnSpc>
              <a:spcPct val="100000"/>
            </a:lnSpc>
          </a:pPr>
          <a:r>
            <a:rPr lang="en-US"/>
            <a:t>Prioritizing legacy server upgrades reduces risk, enhances compliance, and supports future scalability.</a:t>
          </a:r>
        </a:p>
      </dgm:t>
    </dgm:pt>
    <dgm:pt modelId="{D622C974-6D3C-4754-BB1A-DB3FEBDBC31C}" type="parTrans" cxnId="{1ADBBF19-DC28-4387-80C8-1455BD734A22}">
      <dgm:prSet/>
      <dgm:spPr/>
      <dgm:t>
        <a:bodyPr/>
        <a:lstStyle/>
        <a:p>
          <a:endParaRPr lang="en-US"/>
        </a:p>
      </dgm:t>
    </dgm:pt>
    <dgm:pt modelId="{56721C52-B670-4A4E-94CC-84A46BE711B8}" type="sibTrans" cxnId="{1ADBBF19-DC28-4387-80C8-1455BD734A22}">
      <dgm:prSet/>
      <dgm:spPr/>
      <dgm:t>
        <a:bodyPr/>
        <a:lstStyle/>
        <a:p>
          <a:endParaRPr lang="en-US"/>
        </a:p>
      </dgm:t>
    </dgm:pt>
    <dgm:pt modelId="{13EE4095-0E60-4802-97A9-79FBD5535F5F}" type="pres">
      <dgm:prSet presAssocID="{E7E8D96E-71FE-4EA5-BB32-EA9B0BB4CA1D}" presName="Root" presStyleCnt="0">
        <dgm:presLayoutVars>
          <dgm:dir/>
          <dgm:resizeHandles val="exact"/>
        </dgm:presLayoutVars>
      </dgm:prSet>
      <dgm:spPr/>
    </dgm:pt>
    <dgm:pt modelId="{A1D1AE35-9E53-42CF-B401-F60527F0A83D}" type="pres">
      <dgm:prSet presAssocID="{A2875791-4694-4D51-B688-293C3CB0C6A9}" presName="Composite" presStyleCnt="0"/>
      <dgm:spPr/>
    </dgm:pt>
    <dgm:pt modelId="{F1002573-F460-4CAB-BFFA-8AB96F82ED07}" type="pres">
      <dgm:prSet presAssocID="{A2875791-4694-4D51-B688-293C3CB0C6A9}"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3009" r="20241"/>
          <a:stretch/>
        </a:blipFill>
      </dgm:spPr>
      <dgm:extLst>
        <a:ext uri="{E40237B7-FDA0-4F09-8148-C483321AD2D9}">
          <dgm14:cNvPr xmlns:dgm14="http://schemas.microsoft.com/office/drawing/2010/diagram" id="0" name="" descr="Illuminated server room panel"/>
        </a:ext>
      </dgm:extLst>
    </dgm:pt>
    <dgm:pt modelId="{5423F0D0-8279-4AAD-8219-062C79242E9A}" type="pres">
      <dgm:prSet presAssocID="{A2875791-4694-4D51-B688-293C3CB0C6A9}" presName="Subtitle" presStyleLbl="revTx" presStyleIdx="0" presStyleCnt="6">
        <dgm:presLayoutVars>
          <dgm:chMax val="0"/>
          <dgm:bulletEnabled/>
        </dgm:presLayoutVars>
      </dgm:prSet>
      <dgm:spPr/>
    </dgm:pt>
    <dgm:pt modelId="{38519D07-5C47-498B-823A-EE373FE62366}" type="pres">
      <dgm:prSet presAssocID="{A2875791-4694-4D51-B688-293C3CB0C6A9}" presName="Description" presStyleLbl="revTx" presStyleIdx="1" presStyleCnt="6">
        <dgm:presLayoutVars>
          <dgm:bulletEnabled/>
        </dgm:presLayoutVars>
      </dgm:prSet>
      <dgm:spPr/>
    </dgm:pt>
    <dgm:pt modelId="{370F3EC6-BEA9-4C4F-B1FE-953CEEA07F1C}" type="pres">
      <dgm:prSet presAssocID="{34BF53A3-0685-4800-89CB-5F936444F1F9}" presName="sibTrans" presStyleLbl="sibTrans2D1" presStyleIdx="0" presStyleCnt="0"/>
      <dgm:spPr/>
    </dgm:pt>
    <dgm:pt modelId="{883F1705-6ED0-4A99-8F49-106B4874FFAF}" type="pres">
      <dgm:prSet presAssocID="{52CE0F0E-81B6-4C40-B183-F141EF90AED5}" presName="Composite" presStyleCnt="0"/>
      <dgm:spPr/>
    </dgm:pt>
    <dgm:pt modelId="{8E57247A-6B2B-4A3F-B544-5E9A61ACF880}" type="pres">
      <dgm:prSet presAssocID="{52CE0F0E-81B6-4C40-B183-F141EF90AED5}"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0915" r="12336"/>
          <a:stretch/>
        </a:blipFill>
      </dgm:spPr>
      <dgm:extLst>
        <a:ext uri="{E40237B7-FDA0-4F09-8148-C483321AD2D9}">
          <dgm14:cNvPr xmlns:dgm14="http://schemas.microsoft.com/office/drawing/2010/diagram" id="0" name="" descr="German industrial architecture - The Zollverein Coal Mine Complex, Essen, Germany"/>
        </a:ext>
      </dgm:extLst>
    </dgm:pt>
    <dgm:pt modelId="{A0DDE0AC-0972-4E93-B0EA-248EF04B9774}" type="pres">
      <dgm:prSet presAssocID="{52CE0F0E-81B6-4C40-B183-F141EF90AED5}" presName="Subtitle" presStyleLbl="revTx" presStyleIdx="2" presStyleCnt="6">
        <dgm:presLayoutVars>
          <dgm:chMax val="0"/>
          <dgm:bulletEnabled/>
        </dgm:presLayoutVars>
      </dgm:prSet>
      <dgm:spPr/>
    </dgm:pt>
    <dgm:pt modelId="{6EBF47E0-4EE2-4044-8976-656E86D505E2}" type="pres">
      <dgm:prSet presAssocID="{52CE0F0E-81B6-4C40-B183-F141EF90AED5}" presName="Description" presStyleLbl="revTx" presStyleIdx="3" presStyleCnt="6">
        <dgm:presLayoutVars>
          <dgm:bulletEnabled/>
        </dgm:presLayoutVars>
      </dgm:prSet>
      <dgm:spPr/>
    </dgm:pt>
    <dgm:pt modelId="{93379FE5-7E93-47A2-9993-BCE09F61C34B}" type="pres">
      <dgm:prSet presAssocID="{C11DB9DC-786B-4E5B-BC5F-849C137838D9}" presName="sibTrans" presStyleLbl="sibTrans2D1" presStyleIdx="0" presStyleCnt="0"/>
      <dgm:spPr/>
    </dgm:pt>
    <dgm:pt modelId="{A8CA7BE6-22F0-4CFB-A3EA-E5B9A1D93359}" type="pres">
      <dgm:prSet presAssocID="{585D7026-A667-4125-A0F2-BA7BEAE5845E}" presName="Composite" presStyleCnt="0"/>
      <dgm:spPr/>
    </dgm:pt>
    <dgm:pt modelId="{9B5857CE-9783-4D3B-A64A-04E99AA62B1F}" type="pres">
      <dgm:prSet presAssocID="{585D7026-A667-4125-A0F2-BA7BEAE5845E}"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33251" r="-1"/>
          <a:stretch/>
        </a:blipFill>
      </dgm:spPr>
      <dgm:extLst>
        <a:ext uri="{E40237B7-FDA0-4F09-8148-C483321AD2D9}">
          <dgm14:cNvPr xmlns:dgm14="http://schemas.microsoft.com/office/drawing/2010/diagram" id="0" name="" descr="Building a strong network that can withstand any threat"/>
        </a:ext>
      </dgm:extLst>
    </dgm:pt>
    <dgm:pt modelId="{C52768F6-3639-4E49-9641-19E5D769AA01}" type="pres">
      <dgm:prSet presAssocID="{585D7026-A667-4125-A0F2-BA7BEAE5845E}" presName="Subtitle" presStyleLbl="revTx" presStyleIdx="4" presStyleCnt="6">
        <dgm:presLayoutVars>
          <dgm:chMax val="0"/>
          <dgm:bulletEnabled/>
        </dgm:presLayoutVars>
      </dgm:prSet>
      <dgm:spPr/>
    </dgm:pt>
    <dgm:pt modelId="{5425D8BE-00A4-4509-95FE-71DDBD6EF993}" type="pres">
      <dgm:prSet presAssocID="{585D7026-A667-4125-A0F2-BA7BEAE5845E}" presName="Description" presStyleLbl="revTx" presStyleIdx="5" presStyleCnt="6">
        <dgm:presLayoutVars>
          <dgm:bulletEnabled/>
        </dgm:presLayoutVars>
      </dgm:prSet>
      <dgm:spPr/>
    </dgm:pt>
  </dgm:ptLst>
  <dgm:cxnLst>
    <dgm:cxn modelId="{8CD45605-133D-43D8-AF8A-E429A6B6494C}" type="presOf" srcId="{52CE0F0E-81B6-4C40-B183-F141EF90AED5}" destId="{A0DDE0AC-0972-4E93-B0EA-248EF04B9774}" srcOrd="0" destOrd="0" presId="urn:microsoft.com/office/officeart/2024/3/layout/verticalVisualTextBlock1"/>
    <dgm:cxn modelId="{1ADBBF19-DC28-4387-80C8-1455BD734A22}" srcId="{585D7026-A667-4125-A0F2-BA7BEAE5845E}" destId="{E2422E8B-5DE2-4029-8027-2FFE11273304}" srcOrd="0" destOrd="0" parTransId="{D622C974-6D3C-4754-BB1A-DB3FEBDBC31C}" sibTransId="{56721C52-B670-4A4E-94CC-84A46BE711B8}"/>
    <dgm:cxn modelId="{3D87893F-6E5E-48E6-9CC7-B566069D1526}" type="presOf" srcId="{34BF53A3-0685-4800-89CB-5F936444F1F9}" destId="{370F3EC6-BEA9-4C4F-B1FE-953CEEA07F1C}" srcOrd="0" destOrd="0" presId="urn:microsoft.com/office/officeart/2024/3/layout/verticalVisualTextBlock1"/>
    <dgm:cxn modelId="{B6880C5C-07B3-4D30-934B-0DC96C35997B}" type="presOf" srcId="{585D7026-A667-4125-A0F2-BA7BEAE5845E}" destId="{C52768F6-3639-4E49-9641-19E5D769AA01}" srcOrd="0" destOrd="0" presId="urn:microsoft.com/office/officeart/2024/3/layout/verticalVisualTextBlock1"/>
    <dgm:cxn modelId="{6C64234E-003D-4C77-B4FF-309FB4C14228}" type="presOf" srcId="{A2875791-4694-4D51-B688-293C3CB0C6A9}" destId="{5423F0D0-8279-4AAD-8219-062C79242E9A}" srcOrd="0" destOrd="0" presId="urn:microsoft.com/office/officeart/2024/3/layout/verticalVisualTextBlock1"/>
    <dgm:cxn modelId="{39793773-DE96-420D-9585-86A1DCE9388D}" srcId="{E7E8D96E-71FE-4EA5-BB32-EA9B0BB4CA1D}" destId="{585D7026-A667-4125-A0F2-BA7BEAE5845E}" srcOrd="2" destOrd="0" parTransId="{4637DC8A-D049-4CA5-8BDD-749F482433AA}" sibTransId="{9966ABC2-CC02-451D-9370-3D677028BEC8}"/>
    <dgm:cxn modelId="{4EC70476-B457-48B6-86FB-95E561D3F368}" type="presOf" srcId="{E51A5C31-5143-475A-9588-2F6D02BF4038}" destId="{38519D07-5C47-498B-823A-EE373FE62366}" srcOrd="0" destOrd="0" presId="urn:microsoft.com/office/officeart/2024/3/layout/verticalVisualTextBlock1"/>
    <dgm:cxn modelId="{BA163B81-C100-411A-9359-654FD8FE97D9}" srcId="{E7E8D96E-71FE-4EA5-BB32-EA9B0BB4CA1D}" destId="{A2875791-4694-4D51-B688-293C3CB0C6A9}" srcOrd="0" destOrd="0" parTransId="{CCE7120E-D3B1-482E-826E-41A7DDE1B82B}" sibTransId="{34BF53A3-0685-4800-89CB-5F936444F1F9}"/>
    <dgm:cxn modelId="{48399F90-0587-45BE-AE69-7DDF5B0991B2}" srcId="{A2875791-4694-4D51-B688-293C3CB0C6A9}" destId="{E51A5C31-5143-475A-9588-2F6D02BF4038}" srcOrd="0" destOrd="0" parTransId="{1B21630E-A1B7-4A51-BA62-4B2A2EF99930}" sibTransId="{466CACE5-35E8-44AF-85DC-792FBD8D4530}"/>
    <dgm:cxn modelId="{BBE380B0-9869-4E5B-9420-EA7DF2B428BD}" type="presOf" srcId="{E2422E8B-5DE2-4029-8027-2FFE11273304}" destId="{5425D8BE-00A4-4509-95FE-71DDBD6EF993}" srcOrd="0" destOrd="0" presId="urn:microsoft.com/office/officeart/2024/3/layout/verticalVisualTextBlock1"/>
    <dgm:cxn modelId="{E5C58AB1-3BE4-4622-A931-4309FB6533B2}" type="presOf" srcId="{2ED13020-A03A-4A31-8FD4-C495A881FB04}" destId="{6EBF47E0-4EE2-4044-8976-656E86D505E2}" srcOrd="0" destOrd="0" presId="urn:microsoft.com/office/officeart/2024/3/layout/verticalVisualTextBlock1"/>
    <dgm:cxn modelId="{A4FE99BA-AC5C-4669-8E4F-5E422D58F2B7}" type="presOf" srcId="{C11DB9DC-786B-4E5B-BC5F-849C137838D9}" destId="{93379FE5-7E93-47A2-9993-BCE09F61C34B}" srcOrd="0" destOrd="0" presId="urn:microsoft.com/office/officeart/2024/3/layout/verticalVisualTextBlock1"/>
    <dgm:cxn modelId="{A2997BC1-A79F-430C-B6ED-896F3962B02D}" srcId="{52CE0F0E-81B6-4C40-B183-F141EF90AED5}" destId="{2ED13020-A03A-4A31-8FD4-C495A881FB04}" srcOrd="0" destOrd="0" parTransId="{705F5899-F068-4053-8F5B-B86715CBF29F}" sibTransId="{A5C66CE2-4F15-4E40-A300-E3CE03259E21}"/>
    <dgm:cxn modelId="{C73F85CF-C0DB-4532-A667-C225607ECD70}" type="presOf" srcId="{E7E8D96E-71FE-4EA5-BB32-EA9B0BB4CA1D}" destId="{13EE4095-0E60-4802-97A9-79FBD5535F5F}" srcOrd="0" destOrd="0" presId="urn:microsoft.com/office/officeart/2024/3/layout/verticalVisualTextBlock1"/>
    <dgm:cxn modelId="{A7043EE2-6837-488C-8748-72953E15A420}" srcId="{E7E8D96E-71FE-4EA5-BB32-EA9B0BB4CA1D}" destId="{52CE0F0E-81B6-4C40-B183-F141EF90AED5}" srcOrd="1" destOrd="0" parTransId="{5C3B84CC-82B2-4ACE-B2C8-D23D399CBB96}" sibTransId="{C11DB9DC-786B-4E5B-BC5F-849C137838D9}"/>
    <dgm:cxn modelId="{FAFD6C6D-D171-482E-986A-B4A6EC08F9D5}" type="presParOf" srcId="{13EE4095-0E60-4802-97A9-79FBD5535F5F}" destId="{A1D1AE35-9E53-42CF-B401-F60527F0A83D}" srcOrd="0" destOrd="0" presId="urn:microsoft.com/office/officeart/2024/3/layout/verticalVisualTextBlock1"/>
    <dgm:cxn modelId="{379FF6C1-4C86-484C-809D-9E53BDFDC901}" type="presParOf" srcId="{A1D1AE35-9E53-42CF-B401-F60527F0A83D}" destId="{F1002573-F460-4CAB-BFFA-8AB96F82ED07}" srcOrd="0" destOrd="0" presId="urn:microsoft.com/office/officeart/2024/3/layout/verticalVisualTextBlock1"/>
    <dgm:cxn modelId="{F6528810-AC19-40B2-A18C-7714A0A4ECA5}" type="presParOf" srcId="{A1D1AE35-9E53-42CF-B401-F60527F0A83D}" destId="{5423F0D0-8279-4AAD-8219-062C79242E9A}" srcOrd="1" destOrd="0" presId="urn:microsoft.com/office/officeart/2024/3/layout/verticalVisualTextBlock1"/>
    <dgm:cxn modelId="{7E8BC0F2-8038-479A-A767-958DFFAF454C}" type="presParOf" srcId="{A1D1AE35-9E53-42CF-B401-F60527F0A83D}" destId="{38519D07-5C47-498B-823A-EE373FE62366}" srcOrd="2" destOrd="0" presId="urn:microsoft.com/office/officeart/2024/3/layout/verticalVisualTextBlock1"/>
    <dgm:cxn modelId="{CAD7D192-511F-4EB6-87C8-606148BE3AB9}" type="presParOf" srcId="{13EE4095-0E60-4802-97A9-79FBD5535F5F}" destId="{370F3EC6-BEA9-4C4F-B1FE-953CEEA07F1C}" srcOrd="1" destOrd="0" presId="urn:microsoft.com/office/officeart/2024/3/layout/verticalVisualTextBlock1"/>
    <dgm:cxn modelId="{DF4C213E-9567-4481-A04F-0583FF67168E}" type="presParOf" srcId="{13EE4095-0E60-4802-97A9-79FBD5535F5F}" destId="{883F1705-6ED0-4A99-8F49-106B4874FFAF}" srcOrd="2" destOrd="0" presId="urn:microsoft.com/office/officeart/2024/3/layout/verticalVisualTextBlock1"/>
    <dgm:cxn modelId="{931346C7-14C7-48EE-B0B5-7EEAF372974A}" type="presParOf" srcId="{883F1705-6ED0-4A99-8F49-106B4874FFAF}" destId="{8E57247A-6B2B-4A3F-B544-5E9A61ACF880}" srcOrd="0" destOrd="0" presId="urn:microsoft.com/office/officeart/2024/3/layout/verticalVisualTextBlock1"/>
    <dgm:cxn modelId="{B2842329-6A41-4A20-BB6B-3AD502CD5BE0}" type="presParOf" srcId="{883F1705-6ED0-4A99-8F49-106B4874FFAF}" destId="{A0DDE0AC-0972-4E93-B0EA-248EF04B9774}" srcOrd="1" destOrd="0" presId="urn:microsoft.com/office/officeart/2024/3/layout/verticalVisualTextBlock1"/>
    <dgm:cxn modelId="{C7FB3F48-65C6-4907-8F2A-56E6AF61EBA4}" type="presParOf" srcId="{883F1705-6ED0-4A99-8F49-106B4874FFAF}" destId="{6EBF47E0-4EE2-4044-8976-656E86D505E2}" srcOrd="2" destOrd="0" presId="urn:microsoft.com/office/officeart/2024/3/layout/verticalVisualTextBlock1"/>
    <dgm:cxn modelId="{F35F61D3-6DB1-4809-9959-225751FD645E}" type="presParOf" srcId="{13EE4095-0E60-4802-97A9-79FBD5535F5F}" destId="{93379FE5-7E93-47A2-9993-BCE09F61C34B}" srcOrd="3" destOrd="0" presId="urn:microsoft.com/office/officeart/2024/3/layout/verticalVisualTextBlock1"/>
    <dgm:cxn modelId="{D14224C6-8825-4E00-891A-D76B2A6B0F95}" type="presParOf" srcId="{13EE4095-0E60-4802-97A9-79FBD5535F5F}" destId="{A8CA7BE6-22F0-4CFB-A3EA-E5B9A1D93359}" srcOrd="4" destOrd="0" presId="urn:microsoft.com/office/officeart/2024/3/layout/verticalVisualTextBlock1"/>
    <dgm:cxn modelId="{3ABC5869-52EA-40A6-AF43-92CC81BE21D9}" type="presParOf" srcId="{A8CA7BE6-22F0-4CFB-A3EA-E5B9A1D93359}" destId="{9B5857CE-9783-4D3B-A64A-04E99AA62B1F}" srcOrd="0" destOrd="0" presId="urn:microsoft.com/office/officeart/2024/3/layout/verticalVisualTextBlock1"/>
    <dgm:cxn modelId="{548083BC-B96B-408C-B1F2-1F3E18DAABBF}" type="presParOf" srcId="{A8CA7BE6-22F0-4CFB-A3EA-E5B9A1D93359}" destId="{C52768F6-3639-4E49-9641-19E5D769AA01}" srcOrd="1" destOrd="0" presId="urn:microsoft.com/office/officeart/2024/3/layout/verticalVisualTextBlock1"/>
    <dgm:cxn modelId="{0F78898B-C701-4C55-B70B-05D02CCCE009}" type="presParOf" srcId="{A8CA7BE6-22F0-4CFB-A3EA-E5B9A1D93359}" destId="{5425D8BE-00A4-4509-95FE-71DDBD6EF993}"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002573-F460-4CAB-BFFA-8AB96F82ED07}">
      <dsp:nvSpPr>
        <dsp:cNvPr id="0" name=""/>
        <dsp:cNvSpPr/>
      </dsp:nvSpPr>
      <dsp:spPr>
        <a:xfrm>
          <a:off x="0" y="0"/>
          <a:ext cx="1384390" cy="138439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3009" r="20241"/>
          <a:stretch/>
        </a:blipFill>
        <a:ln>
          <a:noFill/>
        </a:ln>
        <a:effectLst/>
      </dsp:spPr>
      <dsp:style>
        <a:lnRef idx="0">
          <a:scrgbClr r="0" g="0" b="0"/>
        </a:lnRef>
        <a:fillRef idx="3">
          <a:scrgbClr r="0" g="0" b="0"/>
        </a:fillRef>
        <a:effectRef idx="2">
          <a:scrgbClr r="0" g="0" b="0"/>
        </a:effectRef>
        <a:fontRef idx="minor">
          <a:schemeClr val="lt1"/>
        </a:fontRef>
      </dsp:style>
    </dsp:sp>
    <dsp:sp modelId="{5423F0D0-8279-4AAD-8219-062C79242E9A}">
      <dsp:nvSpPr>
        <dsp:cNvPr id="0" name=""/>
        <dsp:cNvSpPr/>
      </dsp:nvSpPr>
      <dsp:spPr>
        <a:xfrm>
          <a:off x="1564390" y="0"/>
          <a:ext cx="4855214" cy="363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Modern Server Platforms</a:t>
          </a:r>
        </a:p>
      </dsp:txBody>
      <dsp:txXfrm>
        <a:off x="1564390" y="0"/>
        <a:ext cx="4855214" cy="363894"/>
      </dsp:txXfrm>
    </dsp:sp>
    <dsp:sp modelId="{38519D07-5C47-498B-823A-EE373FE62366}">
      <dsp:nvSpPr>
        <dsp:cNvPr id="0" name=""/>
        <dsp:cNvSpPr/>
      </dsp:nvSpPr>
      <dsp:spPr>
        <a:xfrm>
          <a:off x="1564390" y="363894"/>
          <a:ext cx="4855214" cy="1020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Three servers run Windows Server 2019, providing a stable and well-supported platform for core business applications.</a:t>
          </a:r>
        </a:p>
      </dsp:txBody>
      <dsp:txXfrm>
        <a:off x="1564390" y="363894"/>
        <a:ext cx="4855214" cy="1020495"/>
      </dsp:txXfrm>
    </dsp:sp>
    <dsp:sp modelId="{8E57247A-6B2B-4A3F-B544-5E9A61ACF880}">
      <dsp:nvSpPr>
        <dsp:cNvPr id="0" name=""/>
        <dsp:cNvSpPr/>
      </dsp:nvSpPr>
      <dsp:spPr>
        <a:xfrm>
          <a:off x="0" y="1495141"/>
          <a:ext cx="1384390" cy="138439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0915" r="12336"/>
          <a:stretch/>
        </a:blipFill>
        <a:ln>
          <a:noFill/>
        </a:ln>
        <a:effectLst/>
      </dsp:spPr>
      <dsp:style>
        <a:lnRef idx="0">
          <a:scrgbClr r="0" g="0" b="0"/>
        </a:lnRef>
        <a:fillRef idx="3">
          <a:scrgbClr r="0" g="0" b="0"/>
        </a:fillRef>
        <a:effectRef idx="2">
          <a:scrgbClr r="0" g="0" b="0"/>
        </a:effectRef>
        <a:fontRef idx="minor">
          <a:schemeClr val="lt1"/>
        </a:fontRef>
      </dsp:style>
    </dsp:sp>
    <dsp:sp modelId="{A0DDE0AC-0972-4E93-B0EA-248EF04B9774}">
      <dsp:nvSpPr>
        <dsp:cNvPr id="0" name=""/>
        <dsp:cNvSpPr/>
      </dsp:nvSpPr>
      <dsp:spPr>
        <a:xfrm>
          <a:off x="1564390" y="1495141"/>
          <a:ext cx="4855214" cy="363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Legacy Server Risks</a:t>
          </a:r>
        </a:p>
      </dsp:txBody>
      <dsp:txXfrm>
        <a:off x="1564390" y="1495141"/>
        <a:ext cx="4855214" cy="363894"/>
      </dsp:txXfrm>
    </dsp:sp>
    <dsp:sp modelId="{6EBF47E0-4EE2-4044-8976-656E86D505E2}">
      <dsp:nvSpPr>
        <dsp:cNvPr id="0" name=""/>
        <dsp:cNvSpPr/>
      </dsp:nvSpPr>
      <dsp:spPr>
        <a:xfrm>
          <a:off x="1564390" y="1859036"/>
          <a:ext cx="4855214" cy="1020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Two servers using Windows Server 2012 R2 pose increased operational and security risks due to reduced vendor support.</a:t>
          </a:r>
        </a:p>
      </dsp:txBody>
      <dsp:txXfrm>
        <a:off x="1564390" y="1859036"/>
        <a:ext cx="4855214" cy="1020495"/>
      </dsp:txXfrm>
    </dsp:sp>
    <dsp:sp modelId="{9B5857CE-9783-4D3B-A64A-04E99AA62B1F}">
      <dsp:nvSpPr>
        <dsp:cNvPr id="0" name=""/>
        <dsp:cNvSpPr/>
      </dsp:nvSpPr>
      <dsp:spPr>
        <a:xfrm>
          <a:off x="0" y="2990283"/>
          <a:ext cx="1384390" cy="138439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33251" r="-1"/>
          <a:stretch/>
        </a:blipFill>
        <a:ln>
          <a:noFill/>
        </a:ln>
        <a:effectLst/>
      </dsp:spPr>
      <dsp:style>
        <a:lnRef idx="0">
          <a:scrgbClr r="0" g="0" b="0"/>
        </a:lnRef>
        <a:fillRef idx="3">
          <a:scrgbClr r="0" g="0" b="0"/>
        </a:fillRef>
        <a:effectRef idx="2">
          <a:scrgbClr r="0" g="0" b="0"/>
        </a:effectRef>
        <a:fontRef idx="minor">
          <a:schemeClr val="lt1"/>
        </a:fontRef>
      </dsp:style>
    </dsp:sp>
    <dsp:sp modelId="{C52768F6-3639-4E49-9641-19E5D769AA01}">
      <dsp:nvSpPr>
        <dsp:cNvPr id="0" name=""/>
        <dsp:cNvSpPr/>
      </dsp:nvSpPr>
      <dsp:spPr>
        <a:xfrm>
          <a:off x="1564390" y="2990283"/>
          <a:ext cx="4855214" cy="363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Need for Modernization</a:t>
          </a:r>
        </a:p>
      </dsp:txBody>
      <dsp:txXfrm>
        <a:off x="1564390" y="2990283"/>
        <a:ext cx="4855214" cy="363894"/>
      </dsp:txXfrm>
    </dsp:sp>
    <dsp:sp modelId="{5425D8BE-00A4-4509-95FE-71DDBD6EF993}">
      <dsp:nvSpPr>
        <dsp:cNvPr id="0" name=""/>
        <dsp:cNvSpPr/>
      </dsp:nvSpPr>
      <dsp:spPr>
        <a:xfrm>
          <a:off x="1564390" y="3354178"/>
          <a:ext cx="4855214" cy="1020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Prioritizing legacy server upgrades reduces risk, enhances compliance, and supports future scalability.</a:t>
          </a:r>
        </a:p>
      </dsp:txBody>
      <dsp:txXfrm>
        <a:off x="1564390" y="3354178"/>
        <a:ext cx="4855214" cy="102049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DE5147-1B50-44DA-AB01-B9A6ABD23D2B}" type="datetimeFigureOut">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3DB589-1D5E-44B9-BDA6-3CE9B5042856}" type="slidenum">
              <a:t>‹#›</a:t>
            </a:fld>
            <a:endParaRPr lang="en-US"/>
          </a:p>
        </p:txBody>
      </p:sp>
    </p:spTree>
    <p:extLst>
      <p:ext uri="{BB962C8B-B14F-4D97-AF65-F5344CB8AC3E}">
        <p14:creationId xmlns:p14="http://schemas.microsoft.com/office/powerpoint/2010/main" val="2570325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A79C6A18-C1A1-4C44-BB1D-9ADF4B9B25E6}" type="slidenum">
              <a:t>1</a:t>
            </a:fld>
            <a:endParaRPr lang="en-US"/>
          </a:p>
        </p:txBody>
      </p:sp>
    </p:spTree>
    <p:extLst>
      <p:ext uri="{BB962C8B-B14F-4D97-AF65-F5344CB8AC3E}">
        <p14:creationId xmlns:p14="http://schemas.microsoft.com/office/powerpoint/2010/main" val="637191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Executive Summary
</a:t>
            </a:r>
          </a:p>
        </p:txBody>
      </p:sp>
      <p:sp>
        <p:nvSpPr>
          <p:cNvPr id="4" name="Slide Number Placeholder 3"/>
          <p:cNvSpPr>
            <a:spLocks noGrp="1"/>
          </p:cNvSpPr>
          <p:nvPr>
            <p:ph type="sldNum" sz="quarter" idx="5"/>
          </p:nvPr>
        </p:nvSpPr>
        <p:spPr/>
        <p:txBody>
          <a:bodyPr/>
          <a:lstStyle/>
          <a:p>
            <a:fld id="{A79C6A18-C1A1-4C44-BB1D-9ADF4B9B25E6}" type="slidenum">
              <a:t>2</a:t>
            </a:fld>
            <a:endParaRPr lang="en-US"/>
          </a:p>
        </p:txBody>
      </p:sp>
    </p:spTree>
    <p:extLst>
      <p:ext uri="{BB962C8B-B14F-4D97-AF65-F5344CB8AC3E}">
        <p14:creationId xmlns:p14="http://schemas.microsoft.com/office/powerpoint/2010/main" val="256544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This executive dashboard provides a consolidated view of Valley Credit Union’s information technology environment for the fourth quarter of 2024. Overall, the IT landscape remains stable, secure, and operationally effective. Core infrastructure systems are functioning as expected, and end-user productivity platforms continue to support daily business operations without disruption. No cybersecurity threats were detected during the reporting period, indicating effective baseline security controls and monitoring.
From an executive perspective, the organization demonstrates sound operational discipline, with strong licensing coverage across Microsoft productivity and security tools, centralized printer management, and active monitoring of public-facing services. The institution benefits from a mature cybersecurity awareness culture, as reflected in its Beauceron score, which indicates high user engagement with security education and training initiatives.
Opportunities for improvement remain, particularly in the area of patch compliance consistency across all endpoints and the optimization of Microsoft Defender Secure Score. Addressing these areas will further reduce operational risk, improve audit readiness, and strengthen the overall security posture. This dashboard is intended to support informed decision-making, risk oversight, and strategic planning at the executive and board levels.
</a:t>
            </a:r>
          </a:p>
        </p:txBody>
      </p:sp>
      <p:sp>
        <p:nvSpPr>
          <p:cNvPr id="4" name="Slide Number Placeholder 3"/>
          <p:cNvSpPr>
            <a:spLocks noGrp="1"/>
          </p:cNvSpPr>
          <p:nvPr>
            <p:ph type="sldNum" sz="quarter" idx="5"/>
          </p:nvPr>
        </p:nvSpPr>
        <p:spPr/>
        <p:txBody>
          <a:bodyPr/>
          <a:lstStyle/>
          <a:p>
            <a:fld id="{A79C6A18-C1A1-4C44-BB1D-9ADF4B9B25E6}" type="slidenum">
              <a:t>3</a:t>
            </a:fld>
            <a:endParaRPr lang="en-US"/>
          </a:p>
        </p:txBody>
      </p:sp>
    </p:spTree>
    <p:extLst>
      <p:ext uri="{BB962C8B-B14F-4D97-AF65-F5344CB8AC3E}">
        <p14:creationId xmlns:p14="http://schemas.microsoft.com/office/powerpoint/2010/main" val="1381555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User and Device Overview, Server Infrastructure
</a:t>
            </a:r>
          </a:p>
        </p:txBody>
      </p:sp>
      <p:sp>
        <p:nvSpPr>
          <p:cNvPr id="4" name="Slide Number Placeholder 3"/>
          <p:cNvSpPr>
            <a:spLocks noGrp="1"/>
          </p:cNvSpPr>
          <p:nvPr>
            <p:ph type="sldNum" sz="quarter" idx="5"/>
          </p:nvPr>
        </p:nvSpPr>
        <p:spPr/>
        <p:txBody>
          <a:bodyPr/>
          <a:lstStyle/>
          <a:p>
            <a:fld id="{A79C6A18-C1A1-4C44-BB1D-9ADF4B9B25E6}" type="slidenum">
              <a:t>4</a:t>
            </a:fld>
            <a:endParaRPr lang="en-US"/>
          </a:p>
        </p:txBody>
      </p:sp>
    </p:spTree>
    <p:extLst>
      <p:ext uri="{BB962C8B-B14F-4D97-AF65-F5344CB8AC3E}">
        <p14:creationId xmlns:p14="http://schemas.microsoft.com/office/powerpoint/2010/main" val="1248254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Valley Credit Union currently supports 67 active users across the organization, reflecting the core workforce relying on IT systems for daily operations. These users are supported by a total of 78 endpoint devices, indicating a modest buffer of spare or shared systems that contribute to operational flexibility and business continuity. The endpoint environment consists of a mix of Windows 10 Pro and Windows 11 Pro devices, with 48 systems still operating on Windows 10 and 30 already upgraded to Windows 11.
This distribution suggests a gradual and controlled transition toward newer operating systems, which is a prudent approach for minimizing disruption while maintaining compatibility with critical business applications. From a risk and lifecycle management standpoint, continued planning for the eventual retirement of Windows 10 systems will be important to ensure ongoing vendor support and security updates. Overall, the user and device footprint is well-aligned with the organization’s size and operational needs.
</a:t>
            </a:r>
          </a:p>
        </p:txBody>
      </p:sp>
      <p:sp>
        <p:nvSpPr>
          <p:cNvPr id="4" name="Slide Number Placeholder 3"/>
          <p:cNvSpPr>
            <a:spLocks noGrp="1"/>
          </p:cNvSpPr>
          <p:nvPr>
            <p:ph type="sldNum" sz="quarter" idx="5"/>
          </p:nvPr>
        </p:nvSpPr>
        <p:spPr/>
        <p:txBody>
          <a:bodyPr/>
          <a:lstStyle/>
          <a:p>
            <a:fld id="{A79C6A18-C1A1-4C44-BB1D-9ADF4B9B25E6}" type="slidenum">
              <a:t>5</a:t>
            </a:fld>
            <a:endParaRPr lang="en-US"/>
          </a:p>
        </p:txBody>
      </p:sp>
    </p:spTree>
    <p:extLst>
      <p:ext uri="{BB962C8B-B14F-4D97-AF65-F5344CB8AC3E}">
        <p14:creationId xmlns:p14="http://schemas.microsoft.com/office/powerpoint/2010/main" val="3638572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The server environment at Valley Credit Union consists of five total servers supporting core business and infrastructure services. Three of these servers are running Windows Server 2019 Standard, which remains a modern and well-supported platform suitable for production workloads. These systems provide a stable foundation for critical applications and internal services.
Two servers continue to operate on Windows Server 2012 R2 Standard, which is considered legacy technology. While these systems may still be functional, they represent an increased operational and security risk due to reduced vendor support and limited access to modern security features. From an executive risk management perspective, these legacy servers should be prioritized for modernization or replacement as part of a planned infrastructure refresh. Proactively addressing this will reduce long-term risk exposure, improve compliance alignment, and support future scalability.
</a:t>
            </a:r>
          </a:p>
        </p:txBody>
      </p:sp>
      <p:sp>
        <p:nvSpPr>
          <p:cNvPr id="4" name="Slide Number Placeholder 3"/>
          <p:cNvSpPr>
            <a:spLocks noGrp="1"/>
          </p:cNvSpPr>
          <p:nvPr>
            <p:ph type="sldNum" sz="quarter" idx="5"/>
          </p:nvPr>
        </p:nvSpPr>
        <p:spPr/>
        <p:txBody>
          <a:bodyPr/>
          <a:lstStyle/>
          <a:p>
            <a:fld id="{A79C6A18-C1A1-4C44-BB1D-9ADF4B9B25E6}" type="slidenum">
              <a:t>6</a:t>
            </a:fld>
            <a:endParaRPr lang="en-US"/>
          </a:p>
        </p:txBody>
      </p:sp>
    </p:spTree>
    <p:extLst>
      <p:ext uri="{BB962C8B-B14F-4D97-AF65-F5344CB8AC3E}">
        <p14:creationId xmlns:p14="http://schemas.microsoft.com/office/powerpoint/2010/main" val="1981639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Microsoft Licensing and Collaboration, Security and Compliance Posture, Patch Management and Operational Metrics
</a:t>
            </a:r>
          </a:p>
        </p:txBody>
      </p:sp>
      <p:sp>
        <p:nvSpPr>
          <p:cNvPr id="4" name="Slide Number Placeholder 3"/>
          <p:cNvSpPr>
            <a:spLocks noGrp="1"/>
          </p:cNvSpPr>
          <p:nvPr>
            <p:ph type="sldNum" sz="quarter" idx="5"/>
          </p:nvPr>
        </p:nvSpPr>
        <p:spPr/>
        <p:txBody>
          <a:bodyPr/>
          <a:lstStyle/>
          <a:p>
            <a:fld id="{A79C6A18-C1A1-4C44-BB1D-9ADF4B9B25E6}" type="slidenum">
              <a:t>7</a:t>
            </a:fld>
            <a:endParaRPr lang="en-US"/>
          </a:p>
        </p:txBody>
      </p:sp>
    </p:spTree>
    <p:extLst>
      <p:ext uri="{BB962C8B-B14F-4D97-AF65-F5344CB8AC3E}">
        <p14:creationId xmlns:p14="http://schemas.microsoft.com/office/powerpoint/2010/main" val="3050621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Microsoft 365 licensing across the organization is largely comprehensive and well-managed. Valley Credit Union currently holds 76 out of 78 licenses for Microsoft 365 Business Premium, ensuring that the majority of users have access to advanced productivity, security, and device management features. All 30 required Microsoft 365 Business Standard licenses are fully allocated, demonstrating effective capacity planning.
In addition, Microsoft Teams Phone with calling plans is licensed for 82 out of 84 users, supporting unified communications and modern telephony capabilities. From an executive standpoint, this near-complete licensing coverage minimizes operational friction, supports collaboration, and ensures that security features embedded within Microsoft 365 are broadly available. Minor gaps in licensing can be addressed easily to achieve full alignment and eliminate potential inconsistencies.
</a:t>
            </a:r>
          </a:p>
        </p:txBody>
      </p:sp>
      <p:sp>
        <p:nvSpPr>
          <p:cNvPr id="4" name="Slide Number Placeholder 3"/>
          <p:cNvSpPr>
            <a:spLocks noGrp="1"/>
          </p:cNvSpPr>
          <p:nvPr>
            <p:ph type="sldNum" sz="quarter" idx="5"/>
          </p:nvPr>
        </p:nvSpPr>
        <p:spPr/>
        <p:txBody>
          <a:bodyPr/>
          <a:lstStyle/>
          <a:p>
            <a:fld id="{A79C6A18-C1A1-4C44-BB1D-9ADF4B9B25E6}" type="slidenum">
              <a:t>8</a:t>
            </a:fld>
            <a:endParaRPr lang="en-US"/>
          </a:p>
        </p:txBody>
      </p:sp>
    </p:spTree>
    <p:extLst>
      <p:ext uri="{BB962C8B-B14F-4D97-AF65-F5344CB8AC3E}">
        <p14:creationId xmlns:p14="http://schemas.microsoft.com/office/powerpoint/2010/main" val="1166092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The organization maintains a solid baseline security posture, supported by Microsoft Defender for Business licensing across 78 endpoints. The Microsoft Defender Secure Score currently stands at 45.11%, which is higher than that of comparable organizations of similar size. This score indicates that foundational security controls are in place, while also highlighting opportunities for further configuration improvements.
Importantly, no security threats were detected in the past 30 days, underscoring the effectiveness of current monitoring and protection measures. From a governance and oversight perspective, continued focus on improving the Secure Score will strengthen defense-in-depth, enhance audit outcomes, and further reduce cyber risk. Incremental improvements in configuration and policy enforcement can yield meaningful gains without significant capital investment.
</a:t>
            </a:r>
          </a:p>
        </p:txBody>
      </p:sp>
      <p:sp>
        <p:nvSpPr>
          <p:cNvPr id="4" name="Slide Number Placeholder 3"/>
          <p:cNvSpPr>
            <a:spLocks noGrp="1"/>
          </p:cNvSpPr>
          <p:nvPr>
            <p:ph type="sldNum" sz="quarter" idx="5"/>
          </p:nvPr>
        </p:nvSpPr>
        <p:spPr/>
        <p:txBody>
          <a:bodyPr/>
          <a:lstStyle/>
          <a:p>
            <a:fld id="{A79C6A18-C1A1-4C44-BB1D-9ADF4B9B25E6}" type="slidenum">
              <a:t>9</a:t>
            </a:fld>
            <a:endParaRPr lang="en-US"/>
          </a:p>
        </p:txBody>
      </p:sp>
    </p:spTree>
    <p:extLst>
      <p:ext uri="{BB962C8B-B14F-4D97-AF65-F5344CB8AC3E}">
        <p14:creationId xmlns:p14="http://schemas.microsoft.com/office/powerpoint/2010/main" val="3323785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Patch management performance is strong overall, with 100 percent patch compliance achieved on 73 endpoints, including servers. This reflects disciplined operational processes and effective endpoint management. However, nine endpoints are currently operating at approximately 80 percent patch compliance, which represents a manageable but notable area of risk.
From an executive risk lens, closing this gap should be a short-term priority to ensure consistent protection across the entire environment. Operational productivity metrics further demonstrate system stability, with 5,377 emails sent and 23,370 emails received in the past 30 days. These figures indicate normal business activity levels and confirm the reliability of core communication platforms.
</a:t>
            </a:r>
          </a:p>
        </p:txBody>
      </p:sp>
      <p:sp>
        <p:nvSpPr>
          <p:cNvPr id="4" name="Slide Number Placeholder 3"/>
          <p:cNvSpPr>
            <a:spLocks noGrp="1"/>
          </p:cNvSpPr>
          <p:nvPr>
            <p:ph type="sldNum" sz="quarter" idx="5"/>
          </p:nvPr>
        </p:nvSpPr>
        <p:spPr/>
        <p:txBody>
          <a:bodyPr/>
          <a:lstStyle/>
          <a:p>
            <a:fld id="{A79C6A18-C1A1-4C44-BB1D-9ADF4B9B25E6}" type="slidenum">
              <a:t>10</a:t>
            </a:fld>
            <a:endParaRPr lang="en-US"/>
          </a:p>
        </p:txBody>
      </p:sp>
    </p:spTree>
    <p:extLst>
      <p:ext uri="{BB962C8B-B14F-4D97-AF65-F5344CB8AC3E}">
        <p14:creationId xmlns:p14="http://schemas.microsoft.com/office/powerpoint/2010/main" val="789127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Cyber Awareness and External Risk Monitoring, Governance, Compliance, and Reporting
</a:t>
            </a:r>
          </a:p>
        </p:txBody>
      </p:sp>
      <p:sp>
        <p:nvSpPr>
          <p:cNvPr id="4" name="Slide Number Placeholder 3"/>
          <p:cNvSpPr>
            <a:spLocks noGrp="1"/>
          </p:cNvSpPr>
          <p:nvPr>
            <p:ph type="sldNum" sz="quarter" idx="5"/>
          </p:nvPr>
        </p:nvSpPr>
        <p:spPr/>
        <p:txBody>
          <a:bodyPr/>
          <a:lstStyle/>
          <a:p>
            <a:fld id="{A79C6A18-C1A1-4C44-BB1D-9ADF4B9B25E6}" type="slidenum">
              <a:t>11</a:t>
            </a:fld>
            <a:endParaRPr lang="en-US"/>
          </a:p>
        </p:txBody>
      </p:sp>
    </p:spTree>
    <p:extLst>
      <p:ext uri="{BB962C8B-B14F-4D97-AF65-F5344CB8AC3E}">
        <p14:creationId xmlns:p14="http://schemas.microsoft.com/office/powerpoint/2010/main" val="4225523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Valley Credit Union demonstrates a strong culture of cybersecurity awareness, as evidenced by a Beauceron score of 616. This score reflects high levels of user participation in security training and awareness programs, which is a critical control for reducing the risk of phishing, social engineering, and human-factor incidents.
In addition to internal awareness, the organization leverages Coalition Control to continuously monitor public-facing internet services associated with valleycreditunion.com. The most recent external scan was completed six days ago, providing timely visibility into potential external vulnerabilities. Together, these measures support proactive risk management and align well with executive and board expectations for cyber oversight.
</a:t>
            </a:r>
          </a:p>
        </p:txBody>
      </p:sp>
      <p:sp>
        <p:nvSpPr>
          <p:cNvPr id="4" name="Slide Number Placeholder 3"/>
          <p:cNvSpPr>
            <a:spLocks noGrp="1"/>
          </p:cNvSpPr>
          <p:nvPr>
            <p:ph type="sldNum" sz="quarter" idx="5"/>
          </p:nvPr>
        </p:nvSpPr>
        <p:spPr/>
        <p:txBody>
          <a:bodyPr/>
          <a:lstStyle/>
          <a:p>
            <a:fld id="{A79C6A18-C1A1-4C44-BB1D-9ADF4B9B25E6}" type="slidenum">
              <a:t>12</a:t>
            </a:fld>
            <a:endParaRPr lang="en-US"/>
          </a:p>
        </p:txBody>
      </p:sp>
    </p:spTree>
    <p:extLst>
      <p:ext uri="{BB962C8B-B14F-4D97-AF65-F5344CB8AC3E}">
        <p14:creationId xmlns:p14="http://schemas.microsoft.com/office/powerpoint/2010/main" val="3571013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https://nscc-my.sharepoint.com/personal/w0516036_campus_nscc_ca/_layouts/15/Doc.aspx?sourcedoc=%7B35B66E70-5B48-4185-AE01-B42A2B56ABB7%7D&amp;file=Valley%20Credit%20Union%20Q3%202025%20IT%20Dashboard%20(2).docx&amp;action=default&amp;mobileredirect=true
Governance and compliance activities are supported through ongoing NIST updates and the maintenance of MCS meeting minutes, which are tracked in an attached governance tracker. This approach ensures that cybersecurity and IT risk discussions are documented, traceable, and aligned with recognized frameworks.
From an executive and audit-readiness perspective, this level of documentation supports regulatory expectations and demonstrates due diligence in IT oversight. The inclusion of visual dashboards and screenshots within the presentation further enhances transparency, enabling leadership to quickly understand risk posture, performance trends, and areas requiring attention. Collectively, these practices position Valley Credit Union with a defensible and well-governed IT environment.
</a:t>
            </a:r>
          </a:p>
        </p:txBody>
      </p:sp>
      <p:sp>
        <p:nvSpPr>
          <p:cNvPr id="4" name="Slide Number Placeholder 3"/>
          <p:cNvSpPr>
            <a:spLocks noGrp="1"/>
          </p:cNvSpPr>
          <p:nvPr>
            <p:ph type="sldNum" sz="quarter" idx="5"/>
          </p:nvPr>
        </p:nvSpPr>
        <p:spPr/>
        <p:txBody>
          <a:bodyPr/>
          <a:lstStyle/>
          <a:p>
            <a:fld id="{A79C6A18-C1A1-4C44-BB1D-9ADF4B9B25E6}" type="slidenum">
              <a:t>13</a:t>
            </a:fld>
            <a:endParaRPr lang="en-US"/>
          </a:p>
        </p:txBody>
      </p:sp>
    </p:spTree>
    <p:extLst>
      <p:ext uri="{BB962C8B-B14F-4D97-AF65-F5344CB8AC3E}">
        <p14:creationId xmlns:p14="http://schemas.microsoft.com/office/powerpoint/2010/main" val="15045923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6/1/2026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14907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6/1/2026</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2693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6/1/2026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682104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6/1/2026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008788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6/1/2026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55682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6/1/2026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8884737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6/1/2026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4839751"/>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6/1/2026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8901334"/>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6/1/2026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248057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6/1/2026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125559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6/1/2026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8519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6/1/2026</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08298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78545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6/1/2026</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38495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6/1/2026</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6861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6/1/2026</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63331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6/1/2026</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870163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6/1/2026</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08831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6/1/2026</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24562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6/1/2026</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91452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6/1/2026</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26717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87290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16022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6/1/2026</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64990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6/1/2026</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11828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61531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88827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291830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05475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6/1/2026</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93865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6/1/2026</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94542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6/1/2026</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54132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278439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11983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3589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983477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6/1/2026</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81477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6/1/2026</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60367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97866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1814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33899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3921528"/>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4508912"/>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51658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923051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6/1/2026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9108705"/>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6/1/2026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179585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6/1/2026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951005"/>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6/1/2026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9363228"/>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3077163"/>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50442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6519346"/>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10249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6/1/2026</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07537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6/1/2026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313886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6/1/2026</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4454546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6/1/2026</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8646915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6/1/2026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45830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6/1/2026</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393079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67915716"/>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6/1/2026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861349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6/1/2026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995887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55.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077A2-CDED-D7D1-DEB8-AE9656E7650E}"/>
              </a:ext>
            </a:extLst>
          </p:cNvPr>
          <p:cNvSpPr>
            <a:spLocks noGrp="1"/>
          </p:cNvSpPr>
          <p:nvPr>
            <p:ph type="title"/>
          </p:nvPr>
        </p:nvSpPr>
        <p:spPr>
          <a:xfrm>
            <a:off x="317773" y="1088136"/>
            <a:ext cx="3467048" cy="2905795"/>
          </a:xfrm>
        </p:spPr>
        <p:txBody>
          <a:bodyPr anchor="t">
            <a:normAutofit/>
          </a:bodyPr>
          <a:lstStyle/>
          <a:p>
            <a:r>
              <a:rPr lang="en-US"/>
              <a:t>Valley Credit Union – Executive IT Dashboard</a:t>
            </a:r>
          </a:p>
        </p:txBody>
      </p:sp>
      <p:sp>
        <p:nvSpPr>
          <p:cNvPr id="4" name="Footer Placeholder 3">
            <a:extLst>
              <a:ext uri="{FF2B5EF4-FFF2-40B4-BE49-F238E27FC236}">
                <a16:creationId xmlns:a16="http://schemas.microsoft.com/office/drawing/2014/main" id="{FF23C75B-2C24-1985-3512-C6367A046E31}"/>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a:t>Footer Text</a:t>
            </a:r>
          </a:p>
        </p:txBody>
      </p:sp>
      <p:sp>
        <p:nvSpPr>
          <p:cNvPr id="6" name="Date Placeholder 5">
            <a:extLst>
              <a:ext uri="{FF2B5EF4-FFF2-40B4-BE49-F238E27FC236}">
                <a16:creationId xmlns:a16="http://schemas.microsoft.com/office/drawing/2014/main" id="{0C5C6D96-1623-4CA6-27AE-A466FAF2B942}"/>
              </a:ext>
            </a:extLst>
          </p:cNvPr>
          <p:cNvSpPr>
            <a:spLocks noGrp="1"/>
          </p:cNvSpPr>
          <p:nvPr>
            <p:ph type="dt" sz="half" idx="10"/>
          </p:nvPr>
        </p:nvSpPr>
        <p:spPr>
          <a:xfrm>
            <a:off x="4292854" y="207982"/>
            <a:ext cx="2605980" cy="413360"/>
          </a:xfrm>
        </p:spPr>
        <p:txBody>
          <a:bodyPr anchor="ctr">
            <a:normAutofit/>
          </a:bodyPr>
          <a:lstStyle/>
          <a:p>
            <a:pPr>
              <a:spcAft>
                <a:spcPts val="600"/>
              </a:spcAft>
            </a:pPr>
            <a:fld id="{BBB8170F-0370-4A38-8BF3-83D69476AE62}" type="datetime1">
              <a:rPr lang="en-US" smtClean="0"/>
              <a:pPr>
                <a:spcAft>
                  <a:spcPts val="600"/>
                </a:spcAft>
              </a:pPr>
              <a:t>6/1/2026</a:t>
            </a:fld>
            <a:endParaRPr lang="en-US"/>
          </a:p>
        </p:txBody>
      </p:sp>
      <p:sp>
        <p:nvSpPr>
          <p:cNvPr id="7" name="Slide Number Placeholder 6">
            <a:extLst>
              <a:ext uri="{FF2B5EF4-FFF2-40B4-BE49-F238E27FC236}">
                <a16:creationId xmlns:a16="http://schemas.microsoft.com/office/drawing/2014/main" id="{59D899AB-292D-0DCC-2BDB-129C1448B139}"/>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a:t>
            </a:fld>
            <a:endParaRPr lang="en-US"/>
          </a:p>
        </p:txBody>
      </p:sp>
      <p:sp>
        <p:nvSpPr>
          <p:cNvPr id="3" name="Subtitle 2">
            <a:extLst>
              <a:ext uri="{FF2B5EF4-FFF2-40B4-BE49-F238E27FC236}">
                <a16:creationId xmlns:a16="http://schemas.microsoft.com/office/drawing/2014/main" id="{5B3F98F5-539C-94AF-B156-864A9FE6EC59}"/>
              </a:ext>
            </a:extLst>
          </p:cNvPr>
          <p:cNvSpPr>
            <a:spLocks noGrp="1"/>
          </p:cNvSpPr>
          <p:nvPr>
            <p:ph type="body" sz="half" idx="2"/>
          </p:nvPr>
        </p:nvSpPr>
        <p:spPr>
          <a:xfrm>
            <a:off x="317773" y="4099034"/>
            <a:ext cx="3467048" cy="2325621"/>
          </a:xfrm>
        </p:spPr>
        <p:txBody>
          <a:bodyPr anchor="b">
            <a:normAutofit/>
          </a:bodyPr>
          <a:lstStyle/>
          <a:p>
            <a:r>
              <a:rPr lang="en-US"/>
              <a:t>Comprehensive insights into IT performance and metrics</a:t>
            </a:r>
          </a:p>
        </p:txBody>
      </p:sp>
      <p:pic>
        <p:nvPicPr>
          <p:cNvPr id="13" name="Picture 12" descr="Speedometer">
            <a:extLst>
              <a:ext uri="{FF2B5EF4-FFF2-40B4-BE49-F238E27FC236}">
                <a16:creationId xmlns:a16="http://schemas.microsoft.com/office/drawing/2014/main" id="{52C2AC1B-28C7-9C72-9222-353F2475ABEF}"/>
              </a:ext>
            </a:extLst>
          </p:cNvPr>
          <p:cNvPicPr>
            <a:picLocks noChangeAspect="1"/>
          </p:cNvPicPr>
          <p:nvPr/>
        </p:nvPicPr>
        <p:blipFill>
          <a:blip r:embed="rId3"/>
          <a:srcRect l="14079" r="4824" b="5"/>
          <a:stretch>
            <a:fillRect/>
          </a:stretch>
        </p:blipFill>
        <p:spPr>
          <a:xfrm>
            <a:off x="4292853" y="793729"/>
            <a:ext cx="7899147" cy="6073107"/>
          </a:xfrm>
          <a:prstGeom prst="rect">
            <a:avLst/>
          </a:prstGeom>
          <a:noFill/>
        </p:spPr>
      </p:pic>
    </p:spTree>
    <p:extLst>
      <p:ext uri="{BB962C8B-B14F-4D97-AF65-F5344CB8AC3E}">
        <p14:creationId xmlns:p14="http://schemas.microsoft.com/office/powerpoint/2010/main" val="8619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A843F-0982-A441-B443-B21841B237AA}"/>
              </a:ext>
            </a:extLst>
          </p:cNvPr>
          <p:cNvSpPr>
            <a:spLocks noGrp="1"/>
          </p:cNvSpPr>
          <p:nvPr>
            <p:ph type="ctrTitle"/>
          </p:nvPr>
        </p:nvSpPr>
        <p:spPr>
          <a:xfrm>
            <a:off x="320040" y="749808"/>
            <a:ext cx="6236208" cy="3694176"/>
          </a:xfrm>
        </p:spPr>
        <p:txBody>
          <a:bodyPr anchor="t">
            <a:normAutofit/>
          </a:bodyPr>
          <a:lstStyle/>
          <a:p>
            <a:r>
              <a:rPr lang="en-US"/>
              <a:t>Executive Overview</a:t>
            </a:r>
          </a:p>
        </p:txBody>
      </p:sp>
      <p:sp>
        <p:nvSpPr>
          <p:cNvPr id="12" name="Subtitle 2">
            <a:extLst>
              <a:ext uri="{FF2B5EF4-FFF2-40B4-BE49-F238E27FC236}">
                <a16:creationId xmlns:a16="http://schemas.microsoft.com/office/drawing/2014/main" id="{F0419DBC-A65D-BBC0-66AF-FD9671937B1B}"/>
              </a:ext>
            </a:extLst>
          </p:cNvPr>
          <p:cNvSpPr>
            <a:spLocks noGrp="1"/>
          </p:cNvSpPr>
          <p:nvPr>
            <p:ph type="subTitle" idx="1"/>
          </p:nvPr>
        </p:nvSpPr>
        <p:spPr>
          <a:xfrm>
            <a:off x="320040" y="5477256"/>
            <a:ext cx="6236208" cy="1115568"/>
          </a:xfrm>
        </p:spPr>
        <p:txBody>
          <a:bodyPr/>
          <a:lstStyle/>
          <a:p>
            <a:endParaRPr lang="en-US"/>
          </a:p>
        </p:txBody>
      </p:sp>
      <p:sp>
        <p:nvSpPr>
          <p:cNvPr id="4" name="Footer Placeholder 3">
            <a:extLst>
              <a:ext uri="{FF2B5EF4-FFF2-40B4-BE49-F238E27FC236}">
                <a16:creationId xmlns:a16="http://schemas.microsoft.com/office/drawing/2014/main" id="{FA783EC6-9C04-268F-FCA5-B0DD89A0D667}"/>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a:t>Footer Text</a:t>
            </a:r>
          </a:p>
        </p:txBody>
      </p:sp>
      <p:sp>
        <p:nvSpPr>
          <p:cNvPr id="6" name="Date Placeholder 5">
            <a:extLst>
              <a:ext uri="{FF2B5EF4-FFF2-40B4-BE49-F238E27FC236}">
                <a16:creationId xmlns:a16="http://schemas.microsoft.com/office/drawing/2014/main" id="{751FECA9-B34F-12C5-1ECC-7EB9DA5BDE6F}"/>
              </a:ext>
            </a:extLst>
          </p:cNvPr>
          <p:cNvSpPr>
            <a:spLocks noGrp="1"/>
          </p:cNvSpPr>
          <p:nvPr>
            <p:ph type="dt" sz="half" idx="10"/>
          </p:nvPr>
        </p:nvSpPr>
        <p:spPr>
          <a:xfrm>
            <a:off x="4413504" y="207982"/>
            <a:ext cx="1682496" cy="413360"/>
          </a:xfrm>
        </p:spPr>
        <p:txBody>
          <a:bodyPr anchor="ctr">
            <a:normAutofit/>
          </a:bodyPr>
          <a:lstStyle/>
          <a:p>
            <a:pPr>
              <a:spcAft>
                <a:spcPts val="600"/>
              </a:spcAft>
            </a:pPr>
            <a:fld id="{BBB8170F-0370-4A38-8BF3-83D69476AE62}" type="datetime1">
              <a:rPr lang="en-US" smtClean="0"/>
              <a:pPr>
                <a:spcAft>
                  <a:spcPts val="600"/>
                </a:spcAft>
              </a:pPr>
              <a:t>6/1/2026</a:t>
            </a:fld>
            <a:endParaRPr lang="en-US"/>
          </a:p>
        </p:txBody>
      </p:sp>
      <p:sp>
        <p:nvSpPr>
          <p:cNvPr id="7" name="Slide Number Placeholder 6">
            <a:extLst>
              <a:ext uri="{FF2B5EF4-FFF2-40B4-BE49-F238E27FC236}">
                <a16:creationId xmlns:a16="http://schemas.microsoft.com/office/drawing/2014/main" id="{01BD9E1B-B3E8-A8BA-6499-5F5C6A96736D}"/>
              </a:ext>
            </a:extLst>
          </p:cNvPr>
          <p:cNvSpPr>
            <a:spLocks noGrp="1"/>
          </p:cNvSpPr>
          <p:nvPr>
            <p:ph type="sldNum" sz="quarter" idx="12"/>
          </p:nvPr>
        </p:nvSpPr>
        <p:spPr>
          <a:xfrm>
            <a:off x="6009801" y="207982"/>
            <a:ext cx="546447" cy="413360"/>
          </a:xfrm>
        </p:spPr>
        <p:txBody>
          <a:bodyPr anchor="ctr">
            <a:normAutofit/>
          </a:bodyPr>
          <a:lstStyle/>
          <a:p>
            <a:pPr>
              <a:spcAft>
                <a:spcPts val="600"/>
              </a:spcAft>
            </a:pPr>
            <a:fld id="{753D0FD4-819D-4187-8797-C35567B41C78}" type="slidenum">
              <a:rPr lang="en-US" smtClean="0"/>
              <a:pPr>
                <a:spcAft>
                  <a:spcPts val="600"/>
                </a:spcAft>
              </a:pPr>
              <a:t>2</a:t>
            </a:fld>
            <a:endParaRPr lang="en-US"/>
          </a:p>
        </p:txBody>
      </p:sp>
      <p:sp>
        <p:nvSpPr>
          <p:cNvPr id="14" name="Picture Placeholder 6">
            <a:extLst>
              <a:ext uri="{FF2B5EF4-FFF2-40B4-BE49-F238E27FC236}">
                <a16:creationId xmlns:a16="http://schemas.microsoft.com/office/drawing/2014/main" id="{8198237D-5210-79C3-AE99-E5883FE3FEE9}"/>
              </a:ext>
            </a:extLst>
          </p:cNvPr>
          <p:cNvSpPr>
            <a:spLocks noGrp="1"/>
          </p:cNvSpPr>
          <p:nvPr>
            <p:ph type="pic" sz="quarter" idx="13"/>
          </p:nvPr>
        </p:nvSpPr>
        <p:spPr>
          <a:xfrm>
            <a:off x="7278624" y="0"/>
            <a:ext cx="4913373" cy="6858000"/>
          </a:xfrm>
        </p:spPr>
      </p:sp>
    </p:spTree>
    <p:extLst>
      <p:ext uri="{BB962C8B-B14F-4D97-AF65-F5344CB8AC3E}">
        <p14:creationId xmlns:p14="http://schemas.microsoft.com/office/powerpoint/2010/main" val="30629458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27BD7-8487-E344-77CF-1EE56BE96277}"/>
              </a:ext>
            </a:extLst>
          </p:cNvPr>
          <p:cNvSpPr>
            <a:spLocks noGrp="1"/>
          </p:cNvSpPr>
          <p:nvPr>
            <p:ph type="title"/>
          </p:nvPr>
        </p:nvSpPr>
        <p:spPr>
          <a:xfrm>
            <a:off x="317772" y="685800"/>
            <a:ext cx="11256264" cy="667512"/>
          </a:xfrm>
        </p:spPr>
        <p:txBody>
          <a:bodyPr anchor="b">
            <a:normAutofit/>
          </a:bodyPr>
          <a:lstStyle/>
          <a:p>
            <a:r>
              <a:rPr lang="en-US"/>
              <a:t>Executive Summary</a:t>
            </a:r>
          </a:p>
        </p:txBody>
      </p:sp>
      <p:sp>
        <p:nvSpPr>
          <p:cNvPr id="3" name="Footer Placeholder 2">
            <a:extLst>
              <a:ext uri="{FF2B5EF4-FFF2-40B4-BE49-F238E27FC236}">
                <a16:creationId xmlns:a16="http://schemas.microsoft.com/office/drawing/2014/main" id="{74089CA4-4BC6-B85F-B8FE-8A24B9ACA0DB}"/>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C61CC15A-6CF3-7B32-5A7E-7E9256344B8D}"/>
              </a:ext>
            </a:extLst>
          </p:cNvPr>
          <p:cNvSpPr>
            <a:spLocks noGrp="1"/>
          </p:cNvSpPr>
          <p:nvPr>
            <p:ph type="dt" sz="half" idx="10"/>
          </p:nvPr>
        </p:nvSpPr>
        <p:spPr>
          <a:xfrm>
            <a:off x="7680069" y="207982"/>
            <a:ext cx="1921315" cy="413360"/>
          </a:xfrm>
        </p:spPr>
        <p:txBody>
          <a:bodyPr anchor="ctr">
            <a:normAutofit/>
          </a:bodyPr>
          <a:lstStyle/>
          <a:p>
            <a:pPr>
              <a:spcAft>
                <a:spcPts val="600"/>
              </a:spcAft>
            </a:pPr>
            <a:fld id="{9EAD527F-9C49-4481-A18C-80BA2EA99E79}" type="datetime1">
              <a:rPr lang="en-US" smtClean="0"/>
              <a:pPr>
                <a:spcAft>
                  <a:spcPts val="600"/>
                </a:spcAft>
              </a:pPr>
              <a:t>6/1/2026</a:t>
            </a:fld>
            <a:endParaRPr lang="en-US"/>
          </a:p>
        </p:txBody>
      </p:sp>
      <p:sp>
        <p:nvSpPr>
          <p:cNvPr id="5" name="Slide Number Placeholder 4">
            <a:extLst>
              <a:ext uri="{FF2B5EF4-FFF2-40B4-BE49-F238E27FC236}">
                <a16:creationId xmlns:a16="http://schemas.microsoft.com/office/drawing/2014/main" id="{FCB4C4BE-F0F2-8618-E925-E17C19B4B59C}"/>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3</a:t>
            </a:fld>
            <a:endParaRPr lang="en-US"/>
          </a:p>
        </p:txBody>
      </p:sp>
      <p:sp>
        <p:nvSpPr>
          <p:cNvPr id="13" name="Text Placeholder 5">
            <a:extLst>
              <a:ext uri="{FF2B5EF4-FFF2-40B4-BE49-F238E27FC236}">
                <a16:creationId xmlns:a16="http://schemas.microsoft.com/office/drawing/2014/main" id="{70441BEE-0323-7328-5271-724C3F14D4FC}"/>
              </a:ext>
            </a:extLst>
          </p:cNvPr>
          <p:cNvSpPr>
            <a:spLocks noGrp="1"/>
          </p:cNvSpPr>
          <p:nvPr>
            <p:ph type="body" idx="1"/>
          </p:nvPr>
        </p:nvSpPr>
        <p:spPr>
          <a:xfrm>
            <a:off x="317773" y="1773857"/>
            <a:ext cx="5349064" cy="590144"/>
          </a:xfrm>
        </p:spPr>
        <p:txBody>
          <a:bodyPr/>
          <a:lstStyle/>
          <a:p>
            <a:endParaRPr lang="en-US"/>
          </a:p>
        </p:txBody>
      </p:sp>
      <p:pic>
        <p:nvPicPr>
          <p:cNvPr id="8" name="Content Placeholder 7" descr="Business report chart analysis tablet computer">
            <a:extLst>
              <a:ext uri="{FF2B5EF4-FFF2-40B4-BE49-F238E27FC236}">
                <a16:creationId xmlns:a16="http://schemas.microsoft.com/office/drawing/2014/main" id="{5417A1AD-3232-4155-8D67-EE98C05F9A59}"/>
              </a:ext>
            </a:extLst>
          </p:cNvPr>
          <p:cNvPicPr>
            <a:picLocks noGrp="1" noChangeAspect="1"/>
          </p:cNvPicPr>
          <p:nvPr>
            <p:ph sz="half" idx="2"/>
          </p:nvPr>
        </p:nvPicPr>
        <p:blipFill>
          <a:blip r:embed="rId3"/>
          <a:stretch>
            <a:fillRect/>
          </a:stretch>
        </p:blipFill>
        <p:spPr>
          <a:xfrm>
            <a:off x="419793" y="2368476"/>
            <a:ext cx="5145024" cy="3858768"/>
          </a:xfrm>
          <a:noFill/>
        </p:spPr>
      </p:pic>
      <p:sp>
        <p:nvSpPr>
          <p:cNvPr id="15" name="Text Placeholder 7">
            <a:extLst>
              <a:ext uri="{FF2B5EF4-FFF2-40B4-BE49-F238E27FC236}">
                <a16:creationId xmlns:a16="http://schemas.microsoft.com/office/drawing/2014/main" id="{AFC5E6A9-1E2B-7AC7-2253-07FA2F5947B9}"/>
              </a:ext>
            </a:extLst>
          </p:cNvPr>
          <p:cNvSpPr>
            <a:spLocks noGrp="1"/>
          </p:cNvSpPr>
          <p:nvPr>
            <p:ph type="body" sz="quarter" idx="3"/>
          </p:nvPr>
        </p:nvSpPr>
        <p:spPr>
          <a:xfrm>
            <a:off x="6224796" y="1773857"/>
            <a:ext cx="5349240" cy="590144"/>
          </a:xfrm>
        </p:spPr>
        <p:txBody>
          <a:bodyPr/>
          <a:lstStyle/>
          <a:p>
            <a:endParaRPr lang="en-US"/>
          </a:p>
        </p:txBody>
      </p:sp>
      <p:sp>
        <p:nvSpPr>
          <p:cNvPr id="7" name="Content Placeholder 6">
            <a:extLst>
              <a:ext uri="{FF2B5EF4-FFF2-40B4-BE49-F238E27FC236}">
                <a16:creationId xmlns:a16="http://schemas.microsoft.com/office/drawing/2014/main" id="{A7431BF4-37E9-209A-CF0F-5EFA5C3D2DF0}"/>
              </a:ext>
            </a:extLst>
          </p:cNvPr>
          <p:cNvSpPr>
            <a:spLocks noGrp="1"/>
          </p:cNvSpPr>
          <p:nvPr>
            <p:ph sz="quarter" idx="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24796" y="2368476"/>
            <a:ext cx="5349240" cy="3858768"/>
          </a:xfrm>
        </p:spPr>
        <p:txBody>
          <a:bodyPr>
            <a:normAutofit/>
          </a:bodyPr>
          <a:lstStyle/>
          <a:p>
            <a:pPr marL="0" indent="0">
              <a:lnSpc>
                <a:spcPct val="110000"/>
              </a:lnSpc>
              <a:spcBef>
                <a:spcPts val="2500"/>
              </a:spcBef>
              <a:buFont typeface="Arial" panose="020B0604020202020204" pitchFamily="34" charset="0"/>
              <a:buNone/>
            </a:pPr>
            <a:r>
              <a:rPr lang="en-US" sz="1200" b="1"/>
              <a:t>IT Stability and Security</a:t>
            </a:r>
          </a:p>
          <a:p>
            <a:pPr marL="0" lvl="1" indent="0">
              <a:lnSpc>
                <a:spcPct val="110000"/>
              </a:lnSpc>
              <a:buFont typeface="Arial" panose="020B0604020202020204" pitchFamily="34" charset="0"/>
              <a:buNone/>
            </a:pPr>
            <a:r>
              <a:rPr lang="en-US" sz="1200"/>
              <a:t>The IT environment is stable and secure with no detected cybersecurity threats during the reporting period.</a:t>
            </a:r>
          </a:p>
          <a:p>
            <a:pPr marL="0" indent="0">
              <a:lnSpc>
                <a:spcPct val="110000"/>
              </a:lnSpc>
              <a:spcBef>
                <a:spcPts val="2500"/>
              </a:spcBef>
              <a:buFont typeface="Arial" panose="020B0604020202020204" pitchFamily="34" charset="0"/>
              <a:buNone/>
            </a:pPr>
            <a:r>
              <a:rPr lang="en-US" sz="1200" b="1"/>
              <a:t>Operational Discipline</a:t>
            </a:r>
          </a:p>
          <a:p>
            <a:pPr marL="0" lvl="1" indent="0">
              <a:lnSpc>
                <a:spcPct val="110000"/>
              </a:lnSpc>
              <a:buFont typeface="Arial" panose="020B0604020202020204" pitchFamily="34" charset="0"/>
              <a:buNone/>
            </a:pPr>
            <a:r>
              <a:rPr lang="en-US" sz="1200"/>
              <a:t>Strong licensing coverage and centralized management demonstrate sound operational discipline and support productivity.</a:t>
            </a:r>
          </a:p>
          <a:p>
            <a:pPr marL="0" indent="0">
              <a:lnSpc>
                <a:spcPct val="110000"/>
              </a:lnSpc>
              <a:spcBef>
                <a:spcPts val="2500"/>
              </a:spcBef>
              <a:buFont typeface="Arial" panose="020B0604020202020204" pitchFamily="34" charset="0"/>
              <a:buNone/>
            </a:pPr>
            <a:r>
              <a:rPr lang="en-US" sz="1200" b="1"/>
              <a:t>Cybersecurity Awareness</a:t>
            </a:r>
          </a:p>
          <a:p>
            <a:pPr marL="0" lvl="1" indent="0">
              <a:lnSpc>
                <a:spcPct val="110000"/>
              </a:lnSpc>
              <a:buFont typeface="Arial" panose="020B0604020202020204" pitchFamily="34" charset="0"/>
              <a:buNone/>
            </a:pPr>
            <a:r>
              <a:rPr lang="en-US" sz="1200"/>
              <a:t>High user engagement in security education is reflected by a mature cybersecurity culture and strong awareness scores.</a:t>
            </a:r>
          </a:p>
          <a:p>
            <a:pPr marL="0" indent="0">
              <a:lnSpc>
                <a:spcPct val="110000"/>
              </a:lnSpc>
              <a:spcBef>
                <a:spcPts val="2500"/>
              </a:spcBef>
              <a:buFont typeface="Arial" panose="020B0604020202020204" pitchFamily="34" charset="0"/>
              <a:buNone/>
            </a:pPr>
            <a:r>
              <a:rPr lang="en-US" sz="1200" b="1"/>
              <a:t>Improvement Opportunities</a:t>
            </a:r>
          </a:p>
          <a:p>
            <a:pPr marL="0" lvl="1" indent="0">
              <a:lnSpc>
                <a:spcPct val="110000"/>
              </a:lnSpc>
              <a:buFont typeface="Arial" panose="020B0604020202020204" pitchFamily="34" charset="0"/>
              <a:buNone/>
            </a:pPr>
            <a:r>
              <a:rPr lang="en-US" sz="1200"/>
              <a:t>Increasing patch compliance and optimizing security scores will reduce risks and enhance audit readiness.</a:t>
            </a:r>
          </a:p>
        </p:txBody>
      </p:sp>
    </p:spTree>
    <p:extLst>
      <p:ext uri="{BB962C8B-B14F-4D97-AF65-F5344CB8AC3E}">
        <p14:creationId xmlns:p14="http://schemas.microsoft.com/office/powerpoint/2010/main" val="14114631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9D09B-EE5C-1942-54AA-33709BF5BFDD}"/>
              </a:ext>
            </a:extLst>
          </p:cNvPr>
          <p:cNvSpPr>
            <a:spLocks noGrp="1"/>
          </p:cNvSpPr>
          <p:nvPr>
            <p:ph type="ctrTitle"/>
          </p:nvPr>
        </p:nvSpPr>
        <p:spPr>
          <a:xfrm>
            <a:off x="320040" y="749808"/>
            <a:ext cx="6236208" cy="3694176"/>
          </a:xfrm>
        </p:spPr>
        <p:txBody>
          <a:bodyPr anchor="t">
            <a:normAutofit/>
          </a:bodyPr>
          <a:lstStyle/>
          <a:p>
            <a:r>
              <a:rPr lang="en-US"/>
              <a:t>Users, Devices, and Infrastructure</a:t>
            </a:r>
          </a:p>
        </p:txBody>
      </p:sp>
      <p:sp>
        <p:nvSpPr>
          <p:cNvPr id="13" name="Subtitle 2">
            <a:extLst>
              <a:ext uri="{FF2B5EF4-FFF2-40B4-BE49-F238E27FC236}">
                <a16:creationId xmlns:a16="http://schemas.microsoft.com/office/drawing/2014/main" id="{C210DC71-75B3-7C3A-A3EF-84E4AFA4BD9D}"/>
              </a:ext>
            </a:extLst>
          </p:cNvPr>
          <p:cNvSpPr>
            <a:spLocks noGrp="1"/>
          </p:cNvSpPr>
          <p:nvPr>
            <p:ph type="subTitle" idx="1"/>
          </p:nvPr>
        </p:nvSpPr>
        <p:spPr>
          <a:xfrm>
            <a:off x="320040" y="5477256"/>
            <a:ext cx="6236208" cy="1115568"/>
          </a:xfrm>
        </p:spPr>
        <p:txBody>
          <a:bodyPr/>
          <a:lstStyle/>
          <a:p>
            <a:endParaRPr lang="en-US"/>
          </a:p>
        </p:txBody>
      </p:sp>
      <p:sp>
        <p:nvSpPr>
          <p:cNvPr id="4" name="Footer Placeholder 3">
            <a:extLst>
              <a:ext uri="{FF2B5EF4-FFF2-40B4-BE49-F238E27FC236}">
                <a16:creationId xmlns:a16="http://schemas.microsoft.com/office/drawing/2014/main" id="{CF4E2ED1-B2CE-7FC9-C5D7-CC2A0FF48271}"/>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a:t>Footer Text</a:t>
            </a:r>
          </a:p>
        </p:txBody>
      </p:sp>
      <p:sp>
        <p:nvSpPr>
          <p:cNvPr id="6" name="Date Placeholder 5">
            <a:extLst>
              <a:ext uri="{FF2B5EF4-FFF2-40B4-BE49-F238E27FC236}">
                <a16:creationId xmlns:a16="http://schemas.microsoft.com/office/drawing/2014/main" id="{F4BEF6B2-8115-BA7F-D1D5-A7898EEC1114}"/>
              </a:ext>
            </a:extLst>
          </p:cNvPr>
          <p:cNvSpPr>
            <a:spLocks noGrp="1"/>
          </p:cNvSpPr>
          <p:nvPr>
            <p:ph type="dt" sz="half" idx="10"/>
          </p:nvPr>
        </p:nvSpPr>
        <p:spPr>
          <a:xfrm>
            <a:off x="4413504" y="207982"/>
            <a:ext cx="1682496" cy="413360"/>
          </a:xfrm>
        </p:spPr>
        <p:txBody>
          <a:bodyPr anchor="ctr">
            <a:normAutofit/>
          </a:bodyPr>
          <a:lstStyle/>
          <a:p>
            <a:pPr>
              <a:spcAft>
                <a:spcPts val="600"/>
              </a:spcAft>
            </a:pPr>
            <a:fld id="{BBB8170F-0370-4A38-8BF3-83D69476AE62}" type="datetime1">
              <a:rPr lang="en-US" smtClean="0"/>
              <a:pPr>
                <a:spcAft>
                  <a:spcPts val="600"/>
                </a:spcAft>
              </a:pPr>
              <a:t>6/1/2026</a:t>
            </a:fld>
            <a:endParaRPr lang="en-US"/>
          </a:p>
        </p:txBody>
      </p:sp>
      <p:sp>
        <p:nvSpPr>
          <p:cNvPr id="7" name="Slide Number Placeholder 6">
            <a:extLst>
              <a:ext uri="{FF2B5EF4-FFF2-40B4-BE49-F238E27FC236}">
                <a16:creationId xmlns:a16="http://schemas.microsoft.com/office/drawing/2014/main" id="{0C915487-C34F-C253-EC24-CD6FD5FCA415}"/>
              </a:ext>
            </a:extLst>
          </p:cNvPr>
          <p:cNvSpPr>
            <a:spLocks noGrp="1"/>
          </p:cNvSpPr>
          <p:nvPr>
            <p:ph type="sldNum" sz="quarter" idx="12"/>
          </p:nvPr>
        </p:nvSpPr>
        <p:spPr>
          <a:xfrm>
            <a:off x="6009801" y="207982"/>
            <a:ext cx="546447" cy="413360"/>
          </a:xfrm>
        </p:spPr>
        <p:txBody>
          <a:bodyPr anchor="ctr">
            <a:normAutofit/>
          </a:bodyPr>
          <a:lstStyle/>
          <a:p>
            <a:pPr>
              <a:spcAft>
                <a:spcPts val="600"/>
              </a:spcAft>
            </a:pPr>
            <a:fld id="{753D0FD4-819D-4187-8797-C35567B41C78}" type="slidenum">
              <a:rPr lang="en-US" smtClean="0"/>
              <a:pPr>
                <a:spcAft>
                  <a:spcPts val="600"/>
                </a:spcAft>
              </a:pPr>
              <a:t>4</a:t>
            </a:fld>
            <a:endParaRPr lang="en-US"/>
          </a:p>
        </p:txBody>
      </p:sp>
      <p:pic>
        <p:nvPicPr>
          <p:cNvPr id="9" name="Picture 8" descr="3D abstract blue and gold cube illustration">
            <a:extLst>
              <a:ext uri="{FF2B5EF4-FFF2-40B4-BE49-F238E27FC236}">
                <a16:creationId xmlns:a16="http://schemas.microsoft.com/office/drawing/2014/main" id="{38E6B89D-19C5-DCAE-5541-1DF0EBBEE34D}"/>
              </a:ext>
            </a:extLst>
          </p:cNvPr>
          <p:cNvPicPr>
            <a:picLocks noChangeAspect="1"/>
          </p:cNvPicPr>
          <p:nvPr/>
        </p:nvPicPr>
        <p:blipFill>
          <a:blip r:embed="rId3"/>
          <a:srcRect l="21588" r="35417" b="-2"/>
          <a:stretch>
            <a:fillRect/>
          </a:stretch>
        </p:blipFill>
        <p:spPr>
          <a:xfrm>
            <a:off x="7278624" y="10"/>
            <a:ext cx="4913373" cy="6857990"/>
          </a:xfrm>
          <a:prstGeom prst="rect">
            <a:avLst/>
          </a:prstGeom>
          <a:noFill/>
        </p:spPr>
      </p:pic>
    </p:spTree>
    <p:extLst>
      <p:ext uri="{BB962C8B-B14F-4D97-AF65-F5344CB8AC3E}">
        <p14:creationId xmlns:p14="http://schemas.microsoft.com/office/powerpoint/2010/main" val="23297691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A1865-1D04-9AF1-0965-69B4F95DBF9A}"/>
              </a:ext>
            </a:extLst>
          </p:cNvPr>
          <p:cNvSpPr>
            <a:spLocks noGrp="1"/>
          </p:cNvSpPr>
          <p:nvPr>
            <p:ph type="title"/>
          </p:nvPr>
        </p:nvSpPr>
        <p:spPr>
          <a:xfrm>
            <a:off x="5330876" y="749808"/>
            <a:ext cx="6442024" cy="2039112"/>
          </a:xfrm>
        </p:spPr>
        <p:txBody>
          <a:bodyPr anchor="t">
            <a:normAutofit/>
          </a:bodyPr>
          <a:lstStyle/>
          <a:p>
            <a:r>
              <a:rPr lang="en-US"/>
              <a:t>User and Device Overview</a:t>
            </a:r>
          </a:p>
        </p:txBody>
      </p:sp>
      <p:pic>
        <p:nvPicPr>
          <p:cNvPr id="8" name="Content Placeholder 7" descr="A view of an office space through glass walls. A group of casually dressed people seated at a conference table, working on their laptops while some of their coworkers are relaxing in the break room.">
            <a:extLst>
              <a:ext uri="{FF2B5EF4-FFF2-40B4-BE49-F238E27FC236}">
                <a16:creationId xmlns:a16="http://schemas.microsoft.com/office/drawing/2014/main" id="{A939E9D5-D93D-4B78-8EF4-36699335C81E}"/>
              </a:ext>
            </a:extLst>
          </p:cNvPr>
          <p:cNvPicPr>
            <a:picLocks noGrp="1" noChangeAspect="1"/>
          </p:cNvPicPr>
          <p:nvPr>
            <p:ph type="pic" sz="quarter" idx="13"/>
          </p:nvPr>
        </p:nvPicPr>
        <p:blipFill>
          <a:blip r:embed="rId3"/>
          <a:srcRect l="24220" r="27986" b="-1"/>
          <a:stretch>
            <a:fillRect/>
          </a:stretch>
        </p:blipFill>
        <p:spPr>
          <a:xfrm>
            <a:off x="20" y="10"/>
            <a:ext cx="4910308" cy="6857990"/>
          </a:xfrm>
          <a:noFill/>
        </p:spPr>
      </p:pic>
      <p:sp>
        <p:nvSpPr>
          <p:cNvPr id="3" name="Footer Placeholder 2">
            <a:extLst>
              <a:ext uri="{FF2B5EF4-FFF2-40B4-BE49-F238E27FC236}">
                <a16:creationId xmlns:a16="http://schemas.microsoft.com/office/drawing/2014/main" id="{3EC0AF4F-BAB5-51B4-B49D-BF09F60ABB8D}"/>
              </a:ext>
            </a:extLst>
          </p:cNvPr>
          <p:cNvSpPr>
            <a:spLocks noGrp="1"/>
          </p:cNvSpPr>
          <p:nvPr>
            <p:ph type="ftr" sz="quarter" idx="11"/>
          </p:nvPr>
        </p:nvSpPr>
        <p:spPr>
          <a:xfrm>
            <a:off x="5330875" y="213482"/>
            <a:ext cx="2962656" cy="41148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843F77F8-1A9F-1EB8-3060-EAD90D37070F}"/>
              </a:ext>
            </a:extLst>
          </p:cNvPr>
          <p:cNvSpPr>
            <a:spLocks noGrp="1"/>
          </p:cNvSpPr>
          <p:nvPr>
            <p:ph type="dt" sz="half" idx="10"/>
          </p:nvPr>
        </p:nvSpPr>
        <p:spPr>
          <a:xfrm>
            <a:off x="9609227" y="210312"/>
            <a:ext cx="1679642" cy="411480"/>
          </a:xfrm>
        </p:spPr>
        <p:txBody>
          <a:bodyPr anchor="ctr">
            <a:normAutofit/>
          </a:bodyPr>
          <a:lstStyle/>
          <a:p>
            <a:pPr>
              <a:spcAft>
                <a:spcPts val="600"/>
              </a:spcAft>
            </a:pPr>
            <a:fld id="{9EAD527F-9C49-4481-A18C-80BA2EA99E79}" type="datetime1">
              <a:rPr lang="en-US" smtClean="0"/>
              <a:pPr>
                <a:spcAft>
                  <a:spcPts val="600"/>
                </a:spcAft>
              </a:pPr>
              <a:t>6/1/2026</a:t>
            </a:fld>
            <a:endParaRPr lang="en-US"/>
          </a:p>
        </p:txBody>
      </p:sp>
      <p:sp>
        <p:nvSpPr>
          <p:cNvPr id="5" name="Slide Number Placeholder 4">
            <a:extLst>
              <a:ext uri="{FF2B5EF4-FFF2-40B4-BE49-F238E27FC236}">
                <a16:creationId xmlns:a16="http://schemas.microsoft.com/office/drawing/2014/main" id="{3E0E4CE4-66E7-A773-E2BA-F72EC4CC7B40}"/>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5</a:t>
            </a:fld>
            <a:endParaRPr lang="en-US"/>
          </a:p>
        </p:txBody>
      </p:sp>
      <p:sp>
        <p:nvSpPr>
          <p:cNvPr id="7" name="Content Placeholder 6">
            <a:extLst>
              <a:ext uri="{FF2B5EF4-FFF2-40B4-BE49-F238E27FC236}">
                <a16:creationId xmlns:a16="http://schemas.microsoft.com/office/drawing/2014/main" id="{46CD8B7D-6834-0F3B-867C-AED860FF520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0875" y="2944368"/>
            <a:ext cx="6442025" cy="3571693"/>
          </a:xfrm>
        </p:spPr>
        <p:txBody>
          <a:bodyPr>
            <a:normAutofit/>
          </a:bodyPr>
          <a:lstStyle/>
          <a:p>
            <a:pPr marL="0" indent="0">
              <a:spcBef>
                <a:spcPts val="2500"/>
              </a:spcBef>
              <a:buFont typeface="Arial" panose="020B0604020202020204" pitchFamily="34" charset="0"/>
              <a:buNone/>
            </a:pPr>
            <a:r>
              <a:rPr lang="en-US" sz="1400" b="1"/>
              <a:t>User Base and Device Count</a:t>
            </a:r>
          </a:p>
          <a:p>
            <a:pPr marL="0" lvl="1" indent="0">
              <a:buFont typeface="Arial" panose="020B0604020202020204" pitchFamily="34" charset="0"/>
              <a:buNone/>
            </a:pPr>
            <a:r>
              <a:rPr lang="en-US" sz="1400"/>
              <a:t>Valley Credit Union supports 67 active users and 78 endpoint devices, enabling operational flexibility.</a:t>
            </a:r>
          </a:p>
          <a:p>
            <a:pPr marL="0" indent="0">
              <a:spcBef>
                <a:spcPts val="2500"/>
              </a:spcBef>
              <a:buFont typeface="Arial" panose="020B0604020202020204" pitchFamily="34" charset="0"/>
              <a:buNone/>
            </a:pPr>
            <a:r>
              <a:rPr lang="en-US" sz="1400" b="1"/>
              <a:t>Operating System Distribution</a:t>
            </a:r>
          </a:p>
          <a:p>
            <a:pPr marL="0" lvl="1" indent="0">
              <a:buFont typeface="Arial" panose="020B0604020202020204" pitchFamily="34" charset="0"/>
              <a:buNone/>
            </a:pPr>
            <a:r>
              <a:rPr lang="en-US" sz="1400"/>
              <a:t>The device environment includes 48 Windows 10 and 30 Windows 11 systems, illustrating a gradual OS transition.</a:t>
            </a:r>
          </a:p>
          <a:p>
            <a:pPr marL="0" indent="0">
              <a:spcBef>
                <a:spcPts val="2500"/>
              </a:spcBef>
              <a:buFont typeface="Arial" panose="020B0604020202020204" pitchFamily="34" charset="0"/>
              <a:buNone/>
            </a:pPr>
            <a:r>
              <a:rPr lang="en-US" sz="1400" b="1"/>
              <a:t>Risk and Lifecycle Management</a:t>
            </a:r>
          </a:p>
          <a:p>
            <a:pPr marL="0" lvl="1" indent="0">
              <a:buFont typeface="Arial" panose="020B0604020202020204" pitchFamily="34" charset="0"/>
              <a:buNone/>
            </a:pPr>
            <a:r>
              <a:rPr lang="en-US" sz="1400"/>
              <a:t>Planning for retiring Windows 10 systems is essential to maintain security and vendor support.</a:t>
            </a:r>
          </a:p>
        </p:txBody>
      </p:sp>
    </p:spTree>
    <p:extLst>
      <p:ext uri="{BB962C8B-B14F-4D97-AF65-F5344CB8AC3E}">
        <p14:creationId xmlns:p14="http://schemas.microsoft.com/office/powerpoint/2010/main" val="24107588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4A95-2195-F3F0-04AC-2D7C94D44306}"/>
              </a:ext>
            </a:extLst>
          </p:cNvPr>
          <p:cNvSpPr>
            <a:spLocks noGrp="1"/>
          </p:cNvSpPr>
          <p:nvPr>
            <p:ph type="title"/>
          </p:nvPr>
        </p:nvSpPr>
        <p:spPr>
          <a:xfrm>
            <a:off x="320558" y="749808"/>
            <a:ext cx="11514757" cy="960120"/>
          </a:xfrm>
        </p:spPr>
        <p:txBody>
          <a:bodyPr anchor="t">
            <a:normAutofit/>
          </a:bodyPr>
          <a:lstStyle/>
          <a:p>
            <a:r>
              <a:rPr lang="en-US"/>
              <a:t>Server Infrastructure</a:t>
            </a:r>
          </a:p>
        </p:txBody>
      </p:sp>
      <p:sp>
        <p:nvSpPr>
          <p:cNvPr id="4" name="Footer Placeholder 3">
            <a:extLst>
              <a:ext uri="{FF2B5EF4-FFF2-40B4-BE49-F238E27FC236}">
                <a16:creationId xmlns:a16="http://schemas.microsoft.com/office/drawing/2014/main" id="{5A5A2BCA-BB47-BD74-A5E4-0CC91C5434E0}"/>
              </a:ext>
            </a:extLst>
          </p:cNvPr>
          <p:cNvSpPr>
            <a:spLocks noGrp="1"/>
          </p:cNvSpPr>
          <p:nvPr>
            <p:ph type="ftr" sz="quarter" idx="15"/>
          </p:nvPr>
        </p:nvSpPr>
        <p:spPr>
          <a:xfrm>
            <a:off x="317773" y="207982"/>
            <a:ext cx="2963692" cy="413360"/>
          </a:xfrm>
        </p:spPr>
        <p:txBody>
          <a:bodyPr anchor="ctr">
            <a:normAutofit/>
          </a:bodyPr>
          <a:lstStyle/>
          <a:p>
            <a:pPr>
              <a:spcAft>
                <a:spcPts val="600"/>
              </a:spcAft>
            </a:pPr>
            <a:r>
              <a:rPr lang="en-US"/>
              <a:t>Footer Text</a:t>
            </a:r>
          </a:p>
        </p:txBody>
      </p:sp>
      <p:sp>
        <p:nvSpPr>
          <p:cNvPr id="5" name="Date Placeholder 4">
            <a:extLst>
              <a:ext uri="{FF2B5EF4-FFF2-40B4-BE49-F238E27FC236}">
                <a16:creationId xmlns:a16="http://schemas.microsoft.com/office/drawing/2014/main" id="{F953ABD0-89AA-6F28-61EF-1559B05F8CA3}"/>
              </a:ext>
            </a:extLst>
          </p:cNvPr>
          <p:cNvSpPr>
            <a:spLocks noGrp="1"/>
          </p:cNvSpPr>
          <p:nvPr>
            <p:ph type="dt" sz="half" idx="14"/>
          </p:nvPr>
        </p:nvSpPr>
        <p:spPr>
          <a:xfrm>
            <a:off x="7680069" y="207982"/>
            <a:ext cx="1921315" cy="413360"/>
          </a:xfrm>
        </p:spPr>
        <p:txBody>
          <a:bodyPr anchor="ctr">
            <a:normAutofit/>
          </a:bodyPr>
          <a:lstStyle/>
          <a:p>
            <a:pPr>
              <a:spcAft>
                <a:spcPts val="600"/>
              </a:spcAft>
            </a:pPr>
            <a:fld id="{20D15516-589F-487D-BF51-9635DCEA90D5}" type="datetime1">
              <a:rPr lang="en-US" smtClean="0"/>
              <a:pPr>
                <a:spcAft>
                  <a:spcPts val="600"/>
                </a:spcAft>
              </a:pPr>
              <a:t>6/1/2026</a:t>
            </a:fld>
            <a:endParaRPr lang="en-US"/>
          </a:p>
        </p:txBody>
      </p:sp>
      <p:sp>
        <p:nvSpPr>
          <p:cNvPr id="6" name="Slide Number Placeholder 5">
            <a:extLst>
              <a:ext uri="{FF2B5EF4-FFF2-40B4-BE49-F238E27FC236}">
                <a16:creationId xmlns:a16="http://schemas.microsoft.com/office/drawing/2014/main" id="{EFBC99B4-6508-83BA-CE31-D31B57C3AEAB}"/>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6</a:t>
            </a:fld>
            <a:endParaRPr lang="en-US"/>
          </a:p>
        </p:txBody>
      </p:sp>
      <p:sp>
        <p:nvSpPr>
          <p:cNvPr id="12" name="Picture Placeholder 6">
            <a:extLst>
              <a:ext uri="{FF2B5EF4-FFF2-40B4-BE49-F238E27FC236}">
                <a16:creationId xmlns:a16="http://schemas.microsoft.com/office/drawing/2014/main" id="{C95D0E36-5599-3188-B09B-6FAEBA63DD6D}"/>
              </a:ext>
            </a:extLst>
          </p:cNvPr>
          <p:cNvSpPr>
            <a:spLocks noGrp="1"/>
          </p:cNvSpPr>
          <p:nvPr>
            <p:ph type="pic" sz="quarter" idx="13"/>
          </p:nvPr>
        </p:nvSpPr>
        <p:spPr>
          <a:xfrm>
            <a:off x="7286058" y="1834525"/>
            <a:ext cx="4905942" cy="5023476"/>
          </a:xfrm>
        </p:spPr>
      </p:sp>
      <p:graphicFrame>
        <p:nvGraphicFramePr>
          <p:cNvPr id="7" name="Content Placeholder 6">
            <a:extLst>
              <a:ext uri="{FF2B5EF4-FFF2-40B4-BE49-F238E27FC236}">
                <a16:creationId xmlns:a16="http://schemas.microsoft.com/office/drawing/2014/main" id="{50EB0A56-B305-449F-A391-ACC3A556DC3F}"/>
              </a:ext>
            </a:extLst>
          </p:cNvPr>
          <p:cNvGraphicFramePr>
            <a:graphicFrameLocks noGrp="1"/>
          </p:cNvGraphicFramePr>
          <p:nvPr>
            <p:ph idx="1"/>
            <p:extLst>
              <p:ext uri="{D42A27DB-BD31-4B8C-83A1-F6EECF244321}">
                <p14:modId xmlns:p14="http://schemas.microsoft.com/office/powerpoint/2010/main" val="237337690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317773" y="2180556"/>
          <a:ext cx="6419605" cy="43753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8600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Gear with compass turning gears without">
            <a:extLst>
              <a:ext uri="{FF2B5EF4-FFF2-40B4-BE49-F238E27FC236}">
                <a16:creationId xmlns:a16="http://schemas.microsoft.com/office/drawing/2014/main" id="{A5F4BCAF-5042-FA31-E347-53D144079D7B}"/>
              </a:ext>
            </a:extLst>
          </p:cNvPr>
          <p:cNvPicPr>
            <a:picLocks noChangeAspect="1"/>
          </p:cNvPicPr>
          <p:nvPr/>
        </p:nvPicPr>
        <p:blipFill>
          <a:blip r:embed="rId3"/>
          <a:srcRect r="-2" b="15645"/>
          <a:stretch>
            <a:fillRect/>
          </a:stretch>
        </p:blipFill>
        <p:spPr>
          <a:xfrm>
            <a:off x="20" y="10"/>
            <a:ext cx="12198076" cy="685799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noFill/>
        </p:spPr>
      </p:pic>
      <p:sp>
        <p:nvSpPr>
          <p:cNvPr id="2" name="Title 1">
            <a:extLst>
              <a:ext uri="{FF2B5EF4-FFF2-40B4-BE49-F238E27FC236}">
                <a16:creationId xmlns:a16="http://schemas.microsoft.com/office/drawing/2014/main" id="{C7814DE7-7CB2-2224-244E-2ED8FA6A04C5}"/>
              </a:ext>
            </a:extLst>
          </p:cNvPr>
          <p:cNvSpPr>
            <a:spLocks noGrp="1"/>
          </p:cNvSpPr>
          <p:nvPr>
            <p:ph type="ctrTitle"/>
          </p:nvPr>
        </p:nvSpPr>
        <p:spPr>
          <a:xfrm>
            <a:off x="6914324" y="789558"/>
            <a:ext cx="4633337" cy="4212210"/>
          </a:xfrm>
        </p:spPr>
        <p:txBody>
          <a:bodyPr anchor="t">
            <a:normAutofit/>
          </a:bodyPr>
          <a:lstStyle/>
          <a:p>
            <a:r>
              <a:rPr lang="en-US"/>
              <a:t>Productivity, Security, and Operations</a:t>
            </a:r>
          </a:p>
        </p:txBody>
      </p:sp>
      <p:sp>
        <p:nvSpPr>
          <p:cNvPr id="13" name="Subtitle 3">
            <a:extLst>
              <a:ext uri="{FF2B5EF4-FFF2-40B4-BE49-F238E27FC236}">
                <a16:creationId xmlns:a16="http://schemas.microsoft.com/office/drawing/2014/main" id="{1D4BD496-AD84-5041-E4A4-E0883B5387BE}"/>
              </a:ext>
            </a:extLst>
          </p:cNvPr>
          <p:cNvSpPr>
            <a:spLocks noGrp="1"/>
          </p:cNvSpPr>
          <p:nvPr>
            <p:ph type="subTitle" idx="1"/>
          </p:nvPr>
        </p:nvSpPr>
        <p:spPr>
          <a:xfrm>
            <a:off x="6914322" y="4994648"/>
            <a:ext cx="4633338" cy="1111972"/>
          </a:xfrm>
        </p:spPr>
        <p:txBody>
          <a:bodyPr/>
          <a:lstStyle/>
          <a:p>
            <a:endParaRPr lang="en-US"/>
          </a:p>
        </p:txBody>
      </p:sp>
      <p:sp>
        <p:nvSpPr>
          <p:cNvPr id="4" name="Footer Placeholder 3">
            <a:extLst>
              <a:ext uri="{FF2B5EF4-FFF2-40B4-BE49-F238E27FC236}">
                <a16:creationId xmlns:a16="http://schemas.microsoft.com/office/drawing/2014/main" id="{F2DB3F5B-E571-F8F7-DB1C-65EF3DBB4477}"/>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a:t>Footer Text</a:t>
            </a:r>
          </a:p>
        </p:txBody>
      </p:sp>
      <p:sp>
        <p:nvSpPr>
          <p:cNvPr id="6" name="Date Placeholder 5">
            <a:extLst>
              <a:ext uri="{FF2B5EF4-FFF2-40B4-BE49-F238E27FC236}">
                <a16:creationId xmlns:a16="http://schemas.microsoft.com/office/drawing/2014/main" id="{021F2159-415C-E5DC-0B9B-C3912EFD8834}"/>
              </a:ext>
            </a:extLst>
          </p:cNvPr>
          <p:cNvSpPr>
            <a:spLocks noGrp="1"/>
          </p:cNvSpPr>
          <p:nvPr>
            <p:ph type="dt" sz="half" idx="10"/>
          </p:nvPr>
        </p:nvSpPr>
        <p:spPr>
          <a:xfrm>
            <a:off x="6914323" y="207982"/>
            <a:ext cx="2687062" cy="413360"/>
          </a:xfrm>
        </p:spPr>
        <p:txBody>
          <a:bodyPr anchor="ctr">
            <a:normAutofit/>
          </a:bodyPr>
          <a:lstStyle/>
          <a:p>
            <a:pPr>
              <a:spcAft>
                <a:spcPts val="600"/>
              </a:spcAft>
            </a:pPr>
            <a:fld id="{BBB8170F-0370-4A38-8BF3-83D69476AE62}" type="datetime1">
              <a:rPr lang="en-US" smtClean="0"/>
              <a:pPr>
                <a:spcAft>
                  <a:spcPts val="600"/>
                </a:spcAft>
              </a:pPr>
              <a:t>6/1/2026</a:t>
            </a:fld>
            <a:endParaRPr lang="en-US"/>
          </a:p>
        </p:txBody>
      </p:sp>
      <p:sp>
        <p:nvSpPr>
          <p:cNvPr id="7" name="Slide Number Placeholder 6">
            <a:extLst>
              <a:ext uri="{FF2B5EF4-FFF2-40B4-BE49-F238E27FC236}">
                <a16:creationId xmlns:a16="http://schemas.microsoft.com/office/drawing/2014/main" id="{258AFC1C-88D1-092F-029F-E6AEC7BFBB21}"/>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7</a:t>
            </a:fld>
            <a:endParaRPr lang="en-US"/>
          </a:p>
        </p:txBody>
      </p:sp>
    </p:spTree>
    <p:extLst>
      <p:ext uri="{BB962C8B-B14F-4D97-AF65-F5344CB8AC3E}">
        <p14:creationId xmlns:p14="http://schemas.microsoft.com/office/powerpoint/2010/main" val="775041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5B39E-CCA3-1381-9A85-D84163ABDD77}"/>
              </a:ext>
            </a:extLst>
          </p:cNvPr>
          <p:cNvSpPr>
            <a:spLocks noGrp="1"/>
          </p:cNvSpPr>
          <p:nvPr>
            <p:ph type="title"/>
          </p:nvPr>
        </p:nvSpPr>
        <p:spPr>
          <a:xfrm>
            <a:off x="320557" y="762002"/>
            <a:ext cx="5294939" cy="1555895"/>
          </a:xfrm>
        </p:spPr>
        <p:txBody>
          <a:bodyPr anchor="t">
            <a:normAutofit/>
          </a:bodyPr>
          <a:lstStyle/>
          <a:p>
            <a:r>
              <a:rPr lang="en-US"/>
              <a:t>Microsoft Licensing and Collaboration</a:t>
            </a:r>
          </a:p>
        </p:txBody>
      </p:sp>
      <p:sp>
        <p:nvSpPr>
          <p:cNvPr id="3" name="Footer Placeholder 2">
            <a:extLst>
              <a:ext uri="{FF2B5EF4-FFF2-40B4-BE49-F238E27FC236}">
                <a16:creationId xmlns:a16="http://schemas.microsoft.com/office/drawing/2014/main" id="{724F6FBE-CDF0-2783-4A84-3DFF30348268}"/>
              </a:ext>
            </a:extLst>
          </p:cNvPr>
          <p:cNvSpPr>
            <a:spLocks noGrp="1"/>
          </p:cNvSpPr>
          <p:nvPr>
            <p:ph type="ftr" sz="quarter" idx="15"/>
          </p:nvPr>
        </p:nvSpPr>
        <p:spPr>
          <a:xfrm>
            <a:off x="317773" y="207982"/>
            <a:ext cx="2963692" cy="41336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2D275E9A-4ADF-8E67-CBAA-2A1A1D1E0270}"/>
              </a:ext>
            </a:extLst>
          </p:cNvPr>
          <p:cNvSpPr>
            <a:spLocks noGrp="1"/>
          </p:cNvSpPr>
          <p:nvPr>
            <p:ph type="dt" sz="half" idx="14"/>
          </p:nvPr>
        </p:nvSpPr>
        <p:spPr>
          <a:xfrm>
            <a:off x="6340642" y="207982"/>
            <a:ext cx="1921315" cy="413360"/>
          </a:xfrm>
        </p:spPr>
        <p:txBody>
          <a:bodyPr anchor="ctr">
            <a:normAutofit/>
          </a:bodyPr>
          <a:lstStyle/>
          <a:p>
            <a:pPr>
              <a:spcAft>
                <a:spcPts val="600"/>
              </a:spcAft>
            </a:pPr>
            <a:fld id="{9EAD527F-9C49-4481-A18C-80BA2EA99E79}" type="datetime1">
              <a:rPr lang="en-US" smtClean="0"/>
              <a:pPr>
                <a:spcAft>
                  <a:spcPts val="600"/>
                </a:spcAft>
              </a:pPr>
              <a:t>6/1/2026</a:t>
            </a:fld>
            <a:endParaRPr lang="en-US"/>
          </a:p>
        </p:txBody>
      </p:sp>
      <p:sp>
        <p:nvSpPr>
          <p:cNvPr id="5" name="Slide Number Placeholder 4">
            <a:extLst>
              <a:ext uri="{FF2B5EF4-FFF2-40B4-BE49-F238E27FC236}">
                <a16:creationId xmlns:a16="http://schemas.microsoft.com/office/drawing/2014/main" id="{ED088AF2-64E7-4713-549F-A9D4F61556DE}"/>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8</a:t>
            </a:fld>
            <a:endParaRPr lang="en-US"/>
          </a:p>
        </p:txBody>
      </p:sp>
      <p:pic>
        <p:nvPicPr>
          <p:cNvPr id="8" name="Content Placeholder 7" descr="Front view of a laptop computer on a white office desk, showing business data with financial charts, diagrams, world map with growth factors and graphs. Two blurred business men are talking in the background, looking through the windows with sun shining. Digital generated image and characters. Selective focus.">
            <a:extLst>
              <a:ext uri="{FF2B5EF4-FFF2-40B4-BE49-F238E27FC236}">
                <a16:creationId xmlns:a16="http://schemas.microsoft.com/office/drawing/2014/main" id="{DEF57C27-C63B-4602-AABC-28CE9AA74788}"/>
              </a:ext>
            </a:extLst>
          </p:cNvPr>
          <p:cNvPicPr>
            <a:picLocks noGrp="1" noChangeAspect="1"/>
          </p:cNvPicPr>
          <p:nvPr>
            <p:ph type="pic" sz="quarter" idx="13"/>
          </p:nvPr>
        </p:nvPicPr>
        <p:blipFill>
          <a:blip r:embed="rId3"/>
          <a:srcRect l="20280" r="-1" b="-1"/>
          <a:stretch>
            <a:fillRect/>
          </a:stretch>
        </p:blipFill>
        <p:spPr>
          <a:xfrm>
            <a:off x="20" y="2442689"/>
            <a:ext cx="5875401" cy="4422032"/>
          </a:xfrm>
          <a:noFill/>
        </p:spPr>
      </p:pic>
      <p:sp>
        <p:nvSpPr>
          <p:cNvPr id="7" name="Content Placeholder 6">
            <a:extLst>
              <a:ext uri="{FF2B5EF4-FFF2-40B4-BE49-F238E27FC236}">
                <a16:creationId xmlns:a16="http://schemas.microsoft.com/office/drawing/2014/main" id="{0690B7AF-9831-CC98-6DF3-AE8DC2E2261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40642" y="762000"/>
            <a:ext cx="5432239" cy="5791200"/>
          </a:xfrm>
        </p:spPr>
        <p:txBody>
          <a:bodyPr>
            <a:normAutofit/>
          </a:bodyPr>
          <a:lstStyle/>
          <a:p>
            <a:pPr marL="0" indent="0">
              <a:spcBef>
                <a:spcPts val="2500"/>
              </a:spcBef>
              <a:buFont typeface="Arial" panose="020B0604020202020204" pitchFamily="34" charset="0"/>
              <a:buNone/>
            </a:pPr>
            <a:r>
              <a:rPr lang="en-US" sz="1400" b="1"/>
              <a:t>Microsoft 365 Business Premium Coverage</a:t>
            </a:r>
          </a:p>
          <a:p>
            <a:pPr marL="0" lvl="1" indent="0">
              <a:buFont typeface="Arial" panose="020B0604020202020204" pitchFamily="34" charset="0"/>
              <a:buNone/>
            </a:pPr>
            <a:r>
              <a:rPr lang="en-US" sz="1400"/>
              <a:t>The organization holds 76 of 78 Microsoft 365 Business Premium licenses, ensuring access to advanced productivity and security features.</a:t>
            </a:r>
          </a:p>
          <a:p>
            <a:pPr marL="0" indent="0">
              <a:spcBef>
                <a:spcPts val="2500"/>
              </a:spcBef>
              <a:buFont typeface="Arial" panose="020B0604020202020204" pitchFamily="34" charset="0"/>
              <a:buNone/>
            </a:pPr>
            <a:r>
              <a:rPr lang="en-US" sz="1400" b="1"/>
              <a:t>Microsoft 365 Business Standard Allocation</a:t>
            </a:r>
          </a:p>
          <a:p>
            <a:pPr marL="0" lvl="1" indent="0">
              <a:buFont typeface="Arial" panose="020B0604020202020204" pitchFamily="34" charset="0"/>
              <a:buNone/>
            </a:pPr>
            <a:r>
              <a:rPr lang="en-US" sz="1400"/>
              <a:t>All 30 required Microsoft 365 Business Standard licenses are fully utilized, reflecting effective capacity planning.</a:t>
            </a:r>
          </a:p>
          <a:p>
            <a:pPr marL="0" indent="0">
              <a:spcBef>
                <a:spcPts val="2500"/>
              </a:spcBef>
              <a:buFont typeface="Arial" panose="020B0604020202020204" pitchFamily="34" charset="0"/>
              <a:buNone/>
            </a:pPr>
            <a:r>
              <a:rPr lang="en-US" sz="1400" b="1"/>
              <a:t>Microsoft Teams Phone Licensing</a:t>
            </a:r>
          </a:p>
          <a:p>
            <a:pPr marL="0" lvl="1" indent="0">
              <a:buFont typeface="Arial" panose="020B0604020202020204" pitchFamily="34" charset="0"/>
              <a:buNone/>
            </a:pPr>
            <a:r>
              <a:rPr lang="en-US" sz="1400"/>
              <a:t>82 out of 84 users have Microsoft Teams Phone licenses, supporting unified communications and modern telephony.</a:t>
            </a:r>
          </a:p>
          <a:p>
            <a:pPr marL="0" indent="0">
              <a:spcBef>
                <a:spcPts val="2500"/>
              </a:spcBef>
              <a:buFont typeface="Arial" panose="020B0604020202020204" pitchFamily="34" charset="0"/>
              <a:buNone/>
            </a:pPr>
            <a:r>
              <a:rPr lang="en-US" sz="1400" b="1"/>
              <a:t>Operational and Security Benefits</a:t>
            </a:r>
          </a:p>
          <a:p>
            <a:pPr marL="0" lvl="1" indent="0">
              <a:buFont typeface="Arial" panose="020B0604020202020204" pitchFamily="34" charset="0"/>
              <a:buNone/>
            </a:pPr>
            <a:r>
              <a:rPr lang="en-US" sz="1400"/>
              <a:t>Near-complete licensing reduces operational friction and enables broad access to embedded security and collaboration tools.</a:t>
            </a:r>
          </a:p>
        </p:txBody>
      </p:sp>
    </p:spTree>
    <p:extLst>
      <p:ext uri="{BB962C8B-B14F-4D97-AF65-F5344CB8AC3E}">
        <p14:creationId xmlns:p14="http://schemas.microsoft.com/office/powerpoint/2010/main" val="20196364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6008B-0E60-22EC-DF2B-3ED8B5149541}"/>
              </a:ext>
            </a:extLst>
          </p:cNvPr>
          <p:cNvSpPr>
            <a:spLocks noGrp="1"/>
          </p:cNvSpPr>
          <p:nvPr>
            <p:ph type="title"/>
          </p:nvPr>
        </p:nvSpPr>
        <p:spPr>
          <a:xfrm>
            <a:off x="320558" y="612648"/>
            <a:ext cx="7015483" cy="1033272"/>
          </a:xfrm>
        </p:spPr>
        <p:txBody>
          <a:bodyPr anchor="b">
            <a:normAutofit/>
          </a:bodyPr>
          <a:lstStyle/>
          <a:p>
            <a:r>
              <a:rPr lang="en-US"/>
              <a:t>Security and Compliance Posture</a:t>
            </a:r>
          </a:p>
        </p:txBody>
      </p:sp>
      <p:sp>
        <p:nvSpPr>
          <p:cNvPr id="3" name="Footer Placeholder 2">
            <a:extLst>
              <a:ext uri="{FF2B5EF4-FFF2-40B4-BE49-F238E27FC236}">
                <a16:creationId xmlns:a16="http://schemas.microsoft.com/office/drawing/2014/main" id="{2915D1E3-8360-F695-5FDA-6B37DC99497D}"/>
              </a:ext>
            </a:extLst>
          </p:cNvPr>
          <p:cNvSpPr>
            <a:spLocks noGrp="1"/>
          </p:cNvSpPr>
          <p:nvPr>
            <p:ph type="ftr" sz="quarter" idx="15"/>
          </p:nvPr>
        </p:nvSpPr>
        <p:spPr>
          <a:xfrm>
            <a:off x="317773" y="207982"/>
            <a:ext cx="2963692" cy="41336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B825F870-3038-2A19-6F6C-1917AF25A929}"/>
              </a:ext>
            </a:extLst>
          </p:cNvPr>
          <p:cNvSpPr>
            <a:spLocks noGrp="1"/>
          </p:cNvSpPr>
          <p:nvPr>
            <p:ph type="dt" sz="half" idx="14"/>
          </p:nvPr>
        </p:nvSpPr>
        <p:spPr>
          <a:xfrm>
            <a:off x="5224951" y="207982"/>
            <a:ext cx="1682496" cy="413360"/>
          </a:xfrm>
        </p:spPr>
        <p:txBody>
          <a:bodyPr anchor="ctr">
            <a:normAutofit/>
          </a:bodyPr>
          <a:lstStyle/>
          <a:p>
            <a:pPr>
              <a:spcAft>
                <a:spcPts val="600"/>
              </a:spcAft>
            </a:pPr>
            <a:fld id="{9EAD527F-9C49-4481-A18C-80BA2EA99E79}" type="datetime1">
              <a:rPr lang="en-US" smtClean="0"/>
              <a:pPr>
                <a:spcAft>
                  <a:spcPts val="600"/>
                </a:spcAft>
              </a:pPr>
              <a:t>6/1/2026</a:t>
            </a:fld>
            <a:endParaRPr lang="en-US"/>
          </a:p>
        </p:txBody>
      </p:sp>
      <p:sp>
        <p:nvSpPr>
          <p:cNvPr id="5" name="Slide Number Placeholder 4">
            <a:extLst>
              <a:ext uri="{FF2B5EF4-FFF2-40B4-BE49-F238E27FC236}">
                <a16:creationId xmlns:a16="http://schemas.microsoft.com/office/drawing/2014/main" id="{585B90D5-A2C4-953E-B398-BCC07EF07DF7}"/>
              </a:ext>
            </a:extLst>
          </p:cNvPr>
          <p:cNvSpPr>
            <a:spLocks noGrp="1"/>
          </p:cNvSpPr>
          <p:nvPr>
            <p:ph type="sldNum" sz="quarter" idx="16"/>
          </p:nvPr>
        </p:nvSpPr>
        <p:spPr>
          <a:xfrm>
            <a:off x="6789594" y="207982"/>
            <a:ext cx="546447" cy="413360"/>
          </a:xfrm>
        </p:spPr>
        <p:txBody>
          <a:bodyPr anchor="ctr">
            <a:normAutofit/>
          </a:bodyPr>
          <a:lstStyle/>
          <a:p>
            <a:pPr>
              <a:spcAft>
                <a:spcPts val="600"/>
              </a:spcAft>
            </a:pPr>
            <a:fld id="{753D0FD4-819D-4187-8797-C35567B41C78}" type="slidenum">
              <a:rPr lang="en-US" smtClean="0"/>
              <a:pPr>
                <a:spcAft>
                  <a:spcPts val="600"/>
                </a:spcAft>
              </a:pPr>
              <a:t>9</a:t>
            </a:fld>
            <a:endParaRPr lang="en-US"/>
          </a:p>
        </p:txBody>
      </p:sp>
      <p:sp>
        <p:nvSpPr>
          <p:cNvPr id="7" name="Content Placeholder 6">
            <a:extLst>
              <a:ext uri="{FF2B5EF4-FFF2-40B4-BE49-F238E27FC236}">
                <a16:creationId xmlns:a16="http://schemas.microsoft.com/office/drawing/2014/main" id="{70F4231E-42CB-191D-2602-C8701F99530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a:normAutofit/>
          </a:bodyPr>
          <a:lstStyle/>
          <a:p>
            <a:pPr marL="0" indent="0">
              <a:spcBef>
                <a:spcPts val="2500"/>
              </a:spcBef>
              <a:buFont typeface="Arial" panose="020B0604020202020204" pitchFamily="34" charset="0"/>
              <a:buNone/>
            </a:pPr>
            <a:r>
              <a:rPr lang="en-US" sz="1400" b="1"/>
              <a:t>Baseline Security Posture</a:t>
            </a:r>
          </a:p>
          <a:p>
            <a:pPr marL="0" lvl="1" indent="0">
              <a:buFont typeface="Arial" panose="020B0604020202020204" pitchFamily="34" charset="0"/>
              <a:buNone/>
            </a:pPr>
            <a:r>
              <a:rPr lang="en-US" sz="1400"/>
              <a:t>The organization maintains a strong baseline security across 78 endpoints with Microsoft Defender for Business licensing.</a:t>
            </a:r>
          </a:p>
          <a:p>
            <a:pPr marL="0" indent="0">
              <a:spcBef>
                <a:spcPts val="2500"/>
              </a:spcBef>
              <a:buFont typeface="Arial" panose="020B0604020202020204" pitchFamily="34" charset="0"/>
              <a:buNone/>
            </a:pPr>
            <a:r>
              <a:rPr lang="en-US" sz="1400" b="1"/>
              <a:t>Secure Score Performance</a:t>
            </a:r>
          </a:p>
          <a:p>
            <a:pPr marL="0" lvl="1" indent="0">
              <a:buFont typeface="Arial" panose="020B0604020202020204" pitchFamily="34" charset="0"/>
              <a:buNone/>
            </a:pPr>
            <a:r>
              <a:rPr lang="en-US" sz="1400"/>
              <a:t>Current Secure Score is 45.11%, exceeding similar organizations and reflecting foundational security controls.</a:t>
            </a:r>
          </a:p>
          <a:p>
            <a:pPr marL="0" indent="0">
              <a:spcBef>
                <a:spcPts val="2500"/>
              </a:spcBef>
              <a:buFont typeface="Arial" panose="020B0604020202020204" pitchFamily="34" charset="0"/>
              <a:buNone/>
            </a:pPr>
            <a:r>
              <a:rPr lang="en-US" sz="1400" b="1"/>
              <a:t>Threat Detection Effectiveness</a:t>
            </a:r>
          </a:p>
          <a:p>
            <a:pPr marL="0" lvl="1" indent="0">
              <a:buFont typeface="Arial" panose="020B0604020202020204" pitchFamily="34" charset="0"/>
              <a:buNone/>
            </a:pPr>
            <a:r>
              <a:rPr lang="en-US" sz="1400"/>
              <a:t>No security threats detected in the past 30 days, highlighting effective monitoring and protection measures.</a:t>
            </a:r>
          </a:p>
          <a:p>
            <a:pPr marL="0" indent="0">
              <a:spcBef>
                <a:spcPts val="2500"/>
              </a:spcBef>
              <a:buFont typeface="Arial" panose="020B0604020202020204" pitchFamily="34" charset="0"/>
              <a:buNone/>
            </a:pPr>
            <a:r>
              <a:rPr lang="en-US" sz="1400" b="1"/>
              <a:t>Governance and Improvement Focus</a:t>
            </a:r>
          </a:p>
          <a:p>
            <a:pPr marL="0" lvl="1" indent="0">
              <a:buFont typeface="Arial" panose="020B0604020202020204" pitchFamily="34" charset="0"/>
              <a:buNone/>
            </a:pPr>
            <a:r>
              <a:rPr lang="en-US" sz="1400"/>
              <a:t>Ongoing improvements on Secure Score enhance defense-in-depth and reduce cyber risk without large investments.</a:t>
            </a:r>
          </a:p>
        </p:txBody>
      </p:sp>
      <p:pic>
        <p:nvPicPr>
          <p:cNvPr id="8" name="Content Placeholder 7" descr="Digital security concept on binary data code">
            <a:extLst>
              <a:ext uri="{FF2B5EF4-FFF2-40B4-BE49-F238E27FC236}">
                <a16:creationId xmlns:a16="http://schemas.microsoft.com/office/drawing/2014/main" id="{DBFFD7E0-16D4-4596-B268-183793AE6275}"/>
              </a:ext>
            </a:extLst>
          </p:cNvPr>
          <p:cNvPicPr>
            <a:picLocks noGrp="1" noChangeAspect="1"/>
          </p:cNvPicPr>
          <p:nvPr>
            <p:ph type="pic" sz="quarter" idx="13"/>
          </p:nvPr>
        </p:nvPicPr>
        <p:blipFill>
          <a:blip r:embed="rId3"/>
          <a:srcRect l="11638" r="40055"/>
          <a:stretch>
            <a:fillRect/>
          </a:stretch>
        </p:blipFill>
        <p:spPr>
          <a:xfrm>
            <a:off x="7773592" y="10"/>
            <a:ext cx="4417215" cy="6857990"/>
          </a:xfrm>
          <a:noFill/>
        </p:spPr>
      </p:pic>
    </p:spTree>
    <p:extLst>
      <p:ext uri="{BB962C8B-B14F-4D97-AF65-F5344CB8AC3E}">
        <p14:creationId xmlns:p14="http://schemas.microsoft.com/office/powerpoint/2010/main" val="32278510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A538E-8F65-5C9F-8FF0-CC5CC1BAA050}"/>
              </a:ext>
            </a:extLst>
          </p:cNvPr>
          <p:cNvSpPr>
            <a:spLocks noGrp="1"/>
          </p:cNvSpPr>
          <p:nvPr>
            <p:ph type="title"/>
          </p:nvPr>
        </p:nvSpPr>
        <p:spPr>
          <a:xfrm>
            <a:off x="5330876" y="749808"/>
            <a:ext cx="6442024" cy="2039112"/>
          </a:xfrm>
        </p:spPr>
        <p:txBody>
          <a:bodyPr anchor="t">
            <a:normAutofit/>
          </a:bodyPr>
          <a:lstStyle/>
          <a:p>
            <a:r>
              <a:rPr lang="en-US" sz="6100"/>
              <a:t>Patch Management and Operational Metrics</a:t>
            </a:r>
          </a:p>
        </p:txBody>
      </p:sp>
      <p:pic>
        <p:nvPicPr>
          <p:cNvPr id="8" name="Content Placeholder 7" descr="Credit score report">
            <a:extLst>
              <a:ext uri="{FF2B5EF4-FFF2-40B4-BE49-F238E27FC236}">
                <a16:creationId xmlns:a16="http://schemas.microsoft.com/office/drawing/2014/main" id="{8D20DB62-2E55-492B-B0AE-D118EE45FA8F}"/>
              </a:ext>
            </a:extLst>
          </p:cNvPr>
          <p:cNvPicPr>
            <a:picLocks noGrp="1" noChangeAspect="1"/>
          </p:cNvPicPr>
          <p:nvPr>
            <p:ph type="pic" sz="quarter" idx="13"/>
          </p:nvPr>
        </p:nvPicPr>
        <p:blipFill>
          <a:blip r:embed="rId3"/>
          <a:srcRect l="18551" r="27750"/>
          <a:stretch>
            <a:fillRect/>
          </a:stretch>
        </p:blipFill>
        <p:spPr>
          <a:xfrm>
            <a:off x="20" y="10"/>
            <a:ext cx="4910308" cy="6857990"/>
          </a:xfrm>
          <a:noFill/>
        </p:spPr>
      </p:pic>
      <p:sp>
        <p:nvSpPr>
          <p:cNvPr id="3" name="Footer Placeholder 2">
            <a:extLst>
              <a:ext uri="{FF2B5EF4-FFF2-40B4-BE49-F238E27FC236}">
                <a16:creationId xmlns:a16="http://schemas.microsoft.com/office/drawing/2014/main" id="{53EA551C-6B27-A38B-8410-6A793EBA7BE4}"/>
              </a:ext>
            </a:extLst>
          </p:cNvPr>
          <p:cNvSpPr>
            <a:spLocks noGrp="1"/>
          </p:cNvSpPr>
          <p:nvPr>
            <p:ph type="ftr" sz="quarter" idx="11"/>
          </p:nvPr>
        </p:nvSpPr>
        <p:spPr>
          <a:xfrm>
            <a:off x="5330875" y="213482"/>
            <a:ext cx="2962656" cy="41148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EBA160A3-2EDD-20C7-A4E7-4D1B4CA8FAB9}"/>
              </a:ext>
            </a:extLst>
          </p:cNvPr>
          <p:cNvSpPr>
            <a:spLocks noGrp="1"/>
          </p:cNvSpPr>
          <p:nvPr>
            <p:ph type="dt" sz="half" idx="10"/>
          </p:nvPr>
        </p:nvSpPr>
        <p:spPr>
          <a:xfrm>
            <a:off x="9609227" y="210312"/>
            <a:ext cx="1679642" cy="411480"/>
          </a:xfrm>
        </p:spPr>
        <p:txBody>
          <a:bodyPr anchor="ctr">
            <a:normAutofit/>
          </a:bodyPr>
          <a:lstStyle/>
          <a:p>
            <a:pPr>
              <a:spcAft>
                <a:spcPts val="600"/>
              </a:spcAft>
            </a:pPr>
            <a:fld id="{9EAD527F-9C49-4481-A18C-80BA2EA99E79}" type="datetime1">
              <a:rPr lang="en-US" smtClean="0"/>
              <a:pPr>
                <a:spcAft>
                  <a:spcPts val="600"/>
                </a:spcAft>
              </a:pPr>
              <a:t>6/1/2026</a:t>
            </a:fld>
            <a:endParaRPr lang="en-US"/>
          </a:p>
        </p:txBody>
      </p:sp>
      <p:sp>
        <p:nvSpPr>
          <p:cNvPr id="5" name="Slide Number Placeholder 4">
            <a:extLst>
              <a:ext uri="{FF2B5EF4-FFF2-40B4-BE49-F238E27FC236}">
                <a16:creationId xmlns:a16="http://schemas.microsoft.com/office/drawing/2014/main" id="{6BA7F801-3D1D-FC50-4175-F46B485BE422}"/>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10</a:t>
            </a:fld>
            <a:endParaRPr lang="en-US"/>
          </a:p>
        </p:txBody>
      </p:sp>
      <p:sp>
        <p:nvSpPr>
          <p:cNvPr id="7" name="Content Placeholder 6">
            <a:extLst>
              <a:ext uri="{FF2B5EF4-FFF2-40B4-BE49-F238E27FC236}">
                <a16:creationId xmlns:a16="http://schemas.microsoft.com/office/drawing/2014/main" id="{940751CC-2DFF-5D5C-E637-0352E796D6D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0875" y="2944368"/>
            <a:ext cx="6442025" cy="3571693"/>
          </a:xfrm>
        </p:spPr>
        <p:txBody>
          <a:bodyPr>
            <a:normAutofit/>
          </a:bodyPr>
          <a:lstStyle/>
          <a:p>
            <a:pPr marL="0" indent="0">
              <a:spcBef>
                <a:spcPts val="2500"/>
              </a:spcBef>
              <a:buFont typeface="Arial" panose="020B0604020202020204" pitchFamily="34" charset="0"/>
              <a:buNone/>
            </a:pPr>
            <a:r>
              <a:rPr lang="en-US" sz="1400" b="1"/>
              <a:t>Patch Compliance Status</a:t>
            </a:r>
          </a:p>
          <a:p>
            <a:pPr marL="0" lvl="1" indent="0">
              <a:buFont typeface="Arial" panose="020B0604020202020204" pitchFamily="34" charset="0"/>
              <a:buNone/>
            </a:pPr>
            <a:r>
              <a:rPr lang="en-US" sz="1400"/>
              <a:t>73 endpoints have 100% patch compliance, showing strong operational discipline and endpoint management.</a:t>
            </a:r>
          </a:p>
          <a:p>
            <a:pPr marL="0" indent="0">
              <a:spcBef>
                <a:spcPts val="2500"/>
              </a:spcBef>
              <a:buFont typeface="Arial" panose="020B0604020202020204" pitchFamily="34" charset="0"/>
              <a:buNone/>
            </a:pPr>
            <a:r>
              <a:rPr lang="en-US" sz="1400" b="1"/>
              <a:t>Risk from Partial Compliance</a:t>
            </a:r>
          </a:p>
          <a:p>
            <a:pPr marL="0" lvl="1" indent="0">
              <a:buFont typeface="Arial" panose="020B0604020202020204" pitchFamily="34" charset="0"/>
              <a:buNone/>
            </a:pPr>
            <a:r>
              <a:rPr lang="en-US" sz="1400"/>
              <a:t>Nine endpoints at 80% patch compliance pose a manageable but notable risk that requires short-term attention.</a:t>
            </a:r>
          </a:p>
          <a:p>
            <a:pPr marL="0" indent="0">
              <a:spcBef>
                <a:spcPts val="2500"/>
              </a:spcBef>
              <a:buFont typeface="Arial" panose="020B0604020202020204" pitchFamily="34" charset="0"/>
              <a:buNone/>
            </a:pPr>
            <a:r>
              <a:rPr lang="en-US" sz="1400" b="1"/>
              <a:t>Operational Productivity Metrics</a:t>
            </a:r>
          </a:p>
          <a:p>
            <a:pPr marL="0" lvl="1" indent="0">
              <a:buFont typeface="Arial" panose="020B0604020202020204" pitchFamily="34" charset="0"/>
              <a:buNone/>
            </a:pPr>
            <a:r>
              <a:rPr lang="en-US" sz="1400"/>
              <a:t>Email activity levels with 5,377 sent and 23,370 received confirm system stability and reliable communication platforms.</a:t>
            </a:r>
          </a:p>
        </p:txBody>
      </p:sp>
    </p:spTree>
    <p:extLst>
      <p:ext uri="{BB962C8B-B14F-4D97-AF65-F5344CB8AC3E}">
        <p14:creationId xmlns:p14="http://schemas.microsoft.com/office/powerpoint/2010/main" val="7888719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ontainers of various colors are lined up">
            <a:extLst>
              <a:ext uri="{FF2B5EF4-FFF2-40B4-BE49-F238E27FC236}">
                <a16:creationId xmlns:a16="http://schemas.microsoft.com/office/drawing/2014/main" id="{B85D91D4-AF46-2F8D-111F-5FDD899F16E2}"/>
              </a:ext>
            </a:extLst>
          </p:cNvPr>
          <p:cNvPicPr>
            <a:picLocks noChangeAspect="1"/>
          </p:cNvPicPr>
          <p:nvPr/>
        </p:nvPicPr>
        <p:blipFill>
          <a:blip r:embed="rId3"/>
          <a:srcRect t="8793" r="-2" b="16195"/>
          <a:stretch>
            <a:fillRect/>
          </a:stretch>
        </p:blipFill>
        <p:spPr>
          <a:xfrm>
            <a:off x="20" y="10"/>
            <a:ext cx="12198076" cy="685799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noFill/>
        </p:spPr>
      </p:pic>
      <p:sp>
        <p:nvSpPr>
          <p:cNvPr id="2" name="Title 1">
            <a:extLst>
              <a:ext uri="{FF2B5EF4-FFF2-40B4-BE49-F238E27FC236}">
                <a16:creationId xmlns:a16="http://schemas.microsoft.com/office/drawing/2014/main" id="{D65E6BFE-CD05-EC95-4630-934A9C726BED}"/>
              </a:ext>
            </a:extLst>
          </p:cNvPr>
          <p:cNvSpPr>
            <a:spLocks noGrp="1"/>
          </p:cNvSpPr>
          <p:nvPr>
            <p:ph type="ctrTitle"/>
          </p:nvPr>
        </p:nvSpPr>
        <p:spPr>
          <a:xfrm>
            <a:off x="6914324" y="789558"/>
            <a:ext cx="4633337" cy="4212210"/>
          </a:xfrm>
        </p:spPr>
        <p:txBody>
          <a:bodyPr anchor="t">
            <a:normAutofit/>
          </a:bodyPr>
          <a:lstStyle/>
          <a:p>
            <a:r>
              <a:rPr lang="en-US"/>
              <a:t>Risk Awareness and Governance</a:t>
            </a:r>
          </a:p>
        </p:txBody>
      </p:sp>
      <p:sp>
        <p:nvSpPr>
          <p:cNvPr id="13" name="Subtitle 3">
            <a:extLst>
              <a:ext uri="{FF2B5EF4-FFF2-40B4-BE49-F238E27FC236}">
                <a16:creationId xmlns:a16="http://schemas.microsoft.com/office/drawing/2014/main" id="{508FECD5-F678-1490-7E37-F6206BD52532}"/>
              </a:ext>
            </a:extLst>
          </p:cNvPr>
          <p:cNvSpPr>
            <a:spLocks noGrp="1"/>
          </p:cNvSpPr>
          <p:nvPr>
            <p:ph type="subTitle" idx="1"/>
          </p:nvPr>
        </p:nvSpPr>
        <p:spPr>
          <a:xfrm>
            <a:off x="6914322" y="4994648"/>
            <a:ext cx="4633338" cy="1111972"/>
          </a:xfrm>
        </p:spPr>
        <p:txBody>
          <a:bodyPr/>
          <a:lstStyle/>
          <a:p>
            <a:endParaRPr lang="en-US"/>
          </a:p>
        </p:txBody>
      </p:sp>
      <p:sp>
        <p:nvSpPr>
          <p:cNvPr id="4" name="Footer Placeholder 3">
            <a:extLst>
              <a:ext uri="{FF2B5EF4-FFF2-40B4-BE49-F238E27FC236}">
                <a16:creationId xmlns:a16="http://schemas.microsoft.com/office/drawing/2014/main" id="{EC7CA817-A5CB-C876-30DE-3B00AD88A17F}"/>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a:t>Footer Text</a:t>
            </a:r>
          </a:p>
        </p:txBody>
      </p:sp>
      <p:sp>
        <p:nvSpPr>
          <p:cNvPr id="6" name="Date Placeholder 5">
            <a:extLst>
              <a:ext uri="{FF2B5EF4-FFF2-40B4-BE49-F238E27FC236}">
                <a16:creationId xmlns:a16="http://schemas.microsoft.com/office/drawing/2014/main" id="{A1B3B282-E790-A2D8-B561-13CAC44EBEFC}"/>
              </a:ext>
            </a:extLst>
          </p:cNvPr>
          <p:cNvSpPr>
            <a:spLocks noGrp="1"/>
          </p:cNvSpPr>
          <p:nvPr>
            <p:ph type="dt" sz="half" idx="10"/>
          </p:nvPr>
        </p:nvSpPr>
        <p:spPr>
          <a:xfrm>
            <a:off x="6914323" y="207982"/>
            <a:ext cx="2687062" cy="413360"/>
          </a:xfrm>
        </p:spPr>
        <p:txBody>
          <a:bodyPr anchor="ctr">
            <a:normAutofit/>
          </a:bodyPr>
          <a:lstStyle/>
          <a:p>
            <a:pPr>
              <a:spcAft>
                <a:spcPts val="600"/>
              </a:spcAft>
            </a:pPr>
            <a:fld id="{BBB8170F-0370-4A38-8BF3-83D69476AE62}" type="datetime1">
              <a:rPr lang="en-US" smtClean="0"/>
              <a:pPr>
                <a:spcAft>
                  <a:spcPts val="600"/>
                </a:spcAft>
              </a:pPr>
              <a:t>6/1/2026</a:t>
            </a:fld>
            <a:endParaRPr lang="en-US"/>
          </a:p>
        </p:txBody>
      </p:sp>
      <p:sp>
        <p:nvSpPr>
          <p:cNvPr id="7" name="Slide Number Placeholder 6">
            <a:extLst>
              <a:ext uri="{FF2B5EF4-FFF2-40B4-BE49-F238E27FC236}">
                <a16:creationId xmlns:a16="http://schemas.microsoft.com/office/drawing/2014/main" id="{C3EFB724-9A69-0C47-9BB5-DC5C961FD646}"/>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11</a:t>
            </a:fld>
            <a:endParaRPr lang="en-US"/>
          </a:p>
        </p:txBody>
      </p:sp>
    </p:spTree>
    <p:extLst>
      <p:ext uri="{BB962C8B-B14F-4D97-AF65-F5344CB8AC3E}">
        <p14:creationId xmlns:p14="http://schemas.microsoft.com/office/powerpoint/2010/main" val="35345122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92E56-2B65-043D-B440-9F838D28C4EF}"/>
              </a:ext>
            </a:extLst>
          </p:cNvPr>
          <p:cNvSpPr>
            <a:spLocks noGrp="1"/>
          </p:cNvSpPr>
          <p:nvPr>
            <p:ph type="title"/>
          </p:nvPr>
        </p:nvSpPr>
        <p:spPr>
          <a:xfrm>
            <a:off x="4750308" y="612648"/>
            <a:ext cx="7022592" cy="1033272"/>
          </a:xfrm>
        </p:spPr>
        <p:txBody>
          <a:bodyPr anchor="b">
            <a:normAutofit/>
          </a:bodyPr>
          <a:lstStyle/>
          <a:p>
            <a:r>
              <a:rPr lang="en-US"/>
              <a:t>Cyber Awareness and External Risk Monitoring</a:t>
            </a:r>
          </a:p>
        </p:txBody>
      </p:sp>
      <p:pic>
        <p:nvPicPr>
          <p:cNvPr id="8" name="Content Placeholder 7" descr="Conceptual image representing digital software VPN computing technology">
            <a:extLst>
              <a:ext uri="{FF2B5EF4-FFF2-40B4-BE49-F238E27FC236}">
                <a16:creationId xmlns:a16="http://schemas.microsoft.com/office/drawing/2014/main" id="{F64AE721-6920-4039-9604-A7EAB49CFFCE}"/>
              </a:ext>
            </a:extLst>
          </p:cNvPr>
          <p:cNvPicPr>
            <a:picLocks noGrp="1" noChangeAspect="1"/>
          </p:cNvPicPr>
          <p:nvPr>
            <p:ph type="pic" sz="quarter" idx="13"/>
          </p:nvPr>
        </p:nvPicPr>
        <p:blipFill>
          <a:blip r:embed="rId3"/>
          <a:srcRect l="47989" r="16393"/>
          <a:stretch>
            <a:fillRect/>
          </a:stretch>
        </p:blipFill>
        <p:spPr>
          <a:xfrm>
            <a:off x="20" y="10"/>
            <a:ext cx="4342564" cy="6857990"/>
          </a:xfrm>
          <a:noFill/>
        </p:spPr>
      </p:pic>
      <p:sp>
        <p:nvSpPr>
          <p:cNvPr id="3" name="Footer Placeholder 2">
            <a:extLst>
              <a:ext uri="{FF2B5EF4-FFF2-40B4-BE49-F238E27FC236}">
                <a16:creationId xmlns:a16="http://schemas.microsoft.com/office/drawing/2014/main" id="{9E354562-3CE8-FBDF-4E95-101209979688}"/>
              </a:ext>
            </a:extLst>
          </p:cNvPr>
          <p:cNvSpPr>
            <a:spLocks noGrp="1"/>
          </p:cNvSpPr>
          <p:nvPr>
            <p:ph type="ftr" sz="quarter" idx="15"/>
          </p:nvPr>
        </p:nvSpPr>
        <p:spPr>
          <a:xfrm>
            <a:off x="4750307" y="210312"/>
            <a:ext cx="3531437" cy="41336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CA63645A-8A77-AA00-5AF8-5B0F6C8648F9}"/>
              </a:ext>
            </a:extLst>
          </p:cNvPr>
          <p:cNvSpPr>
            <a:spLocks noGrp="1"/>
          </p:cNvSpPr>
          <p:nvPr>
            <p:ph type="dt" sz="half" idx="14"/>
          </p:nvPr>
        </p:nvSpPr>
        <p:spPr>
          <a:xfrm>
            <a:off x="9582299" y="210312"/>
            <a:ext cx="1679642" cy="413360"/>
          </a:xfrm>
        </p:spPr>
        <p:txBody>
          <a:bodyPr anchor="ctr">
            <a:normAutofit/>
          </a:bodyPr>
          <a:lstStyle/>
          <a:p>
            <a:pPr>
              <a:spcAft>
                <a:spcPts val="600"/>
              </a:spcAft>
            </a:pPr>
            <a:fld id="{9EAD527F-9C49-4481-A18C-80BA2EA99E79}" type="datetime1">
              <a:rPr lang="en-US" smtClean="0"/>
              <a:pPr>
                <a:spcAft>
                  <a:spcPts val="600"/>
                </a:spcAft>
              </a:pPr>
              <a:t>6/1/2026</a:t>
            </a:fld>
            <a:endParaRPr lang="en-US"/>
          </a:p>
        </p:txBody>
      </p:sp>
      <p:sp>
        <p:nvSpPr>
          <p:cNvPr id="5" name="Slide Number Placeholder 4">
            <a:extLst>
              <a:ext uri="{FF2B5EF4-FFF2-40B4-BE49-F238E27FC236}">
                <a16:creationId xmlns:a16="http://schemas.microsoft.com/office/drawing/2014/main" id="{0D560A35-7CE1-DCBC-C4D7-3E9CC98BDB47}"/>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12</a:t>
            </a:fld>
            <a:endParaRPr lang="en-US"/>
          </a:p>
        </p:txBody>
      </p:sp>
      <p:sp>
        <p:nvSpPr>
          <p:cNvPr id="7" name="Content Placeholder 6">
            <a:extLst>
              <a:ext uri="{FF2B5EF4-FFF2-40B4-BE49-F238E27FC236}">
                <a16:creationId xmlns:a16="http://schemas.microsoft.com/office/drawing/2014/main" id="{6A4A8C06-1523-67CA-0CF9-3BAE8EFDBFD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50307" y="1746503"/>
            <a:ext cx="7022592" cy="4806697"/>
          </a:xfrm>
        </p:spPr>
        <p:txBody>
          <a:bodyPr>
            <a:normAutofit/>
          </a:bodyPr>
          <a:lstStyle/>
          <a:p>
            <a:pPr marL="0" indent="0">
              <a:spcBef>
                <a:spcPts val="2500"/>
              </a:spcBef>
              <a:buFont typeface="Arial" panose="020B0604020202020204" pitchFamily="34" charset="0"/>
              <a:buNone/>
            </a:pPr>
            <a:r>
              <a:rPr lang="en-US" sz="1400" b="1"/>
              <a:t>Strong Cybersecurity Culture</a:t>
            </a:r>
          </a:p>
          <a:p>
            <a:pPr marL="0" lvl="1" indent="0">
              <a:buFont typeface="Arial" panose="020B0604020202020204" pitchFamily="34" charset="0"/>
              <a:buNone/>
            </a:pPr>
            <a:r>
              <a:rPr lang="en-US" sz="1400"/>
              <a:t>A Beauceron score of 616 reflects strong user engagement in cybersecurity awareness and training programs.</a:t>
            </a:r>
          </a:p>
          <a:p>
            <a:pPr marL="0" indent="0">
              <a:spcBef>
                <a:spcPts val="2500"/>
              </a:spcBef>
              <a:buFont typeface="Arial" panose="020B0604020202020204" pitchFamily="34" charset="0"/>
              <a:buNone/>
            </a:pPr>
            <a:r>
              <a:rPr lang="en-US" sz="1400" b="1"/>
              <a:t>Phishing and Social Engineering Defense</a:t>
            </a:r>
          </a:p>
          <a:p>
            <a:pPr marL="0" lvl="1" indent="0">
              <a:buFont typeface="Arial" panose="020B0604020202020204" pitchFamily="34" charset="0"/>
              <a:buNone/>
            </a:pPr>
            <a:r>
              <a:rPr lang="en-US" sz="1400"/>
              <a:t>Security awareness programs reduce risks of phishing, social engineering, and human-factor incidents significantly.</a:t>
            </a:r>
          </a:p>
          <a:p>
            <a:pPr marL="0" indent="0">
              <a:spcBef>
                <a:spcPts val="2500"/>
              </a:spcBef>
              <a:buFont typeface="Arial" panose="020B0604020202020204" pitchFamily="34" charset="0"/>
              <a:buNone/>
            </a:pPr>
            <a:r>
              <a:rPr lang="en-US" sz="1400" b="1"/>
              <a:t>External Vulnerability Monitoring</a:t>
            </a:r>
          </a:p>
          <a:p>
            <a:pPr marL="0" lvl="1" indent="0">
              <a:buFont typeface="Arial" panose="020B0604020202020204" pitchFamily="34" charset="0"/>
              <a:buNone/>
            </a:pPr>
            <a:r>
              <a:rPr lang="en-US" sz="1400"/>
              <a:t>Continuous scans of public-facing internet services provide timely detection of external cybersecurity vulnerabilities.</a:t>
            </a:r>
          </a:p>
          <a:p>
            <a:pPr marL="0" indent="0">
              <a:spcBef>
                <a:spcPts val="2500"/>
              </a:spcBef>
              <a:buFont typeface="Arial" panose="020B0604020202020204" pitchFamily="34" charset="0"/>
              <a:buNone/>
            </a:pPr>
            <a:r>
              <a:rPr lang="en-US" sz="1400" b="1"/>
              <a:t>Proactive Cyber Risk Management</a:t>
            </a:r>
          </a:p>
          <a:p>
            <a:pPr marL="0" lvl="1" indent="0">
              <a:buFont typeface="Arial" panose="020B0604020202020204" pitchFamily="34" charset="0"/>
              <a:buNone/>
            </a:pPr>
            <a:r>
              <a:rPr lang="en-US" sz="1400"/>
              <a:t>Combined internal and external measures support proactive cyber risk management aligned with executive oversight.</a:t>
            </a:r>
          </a:p>
        </p:txBody>
      </p:sp>
    </p:spTree>
    <p:extLst>
      <p:ext uri="{BB962C8B-B14F-4D97-AF65-F5344CB8AC3E}">
        <p14:creationId xmlns:p14="http://schemas.microsoft.com/office/powerpoint/2010/main" val="3972676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6AAD9-439D-AD89-9956-1EAC3E37DB74}"/>
              </a:ext>
            </a:extLst>
          </p:cNvPr>
          <p:cNvSpPr>
            <a:spLocks noGrp="1"/>
          </p:cNvSpPr>
          <p:nvPr>
            <p:ph type="title"/>
          </p:nvPr>
        </p:nvSpPr>
        <p:spPr>
          <a:xfrm>
            <a:off x="5330876" y="749808"/>
            <a:ext cx="6442024" cy="2039112"/>
          </a:xfrm>
        </p:spPr>
        <p:txBody>
          <a:bodyPr anchor="t">
            <a:normAutofit/>
          </a:bodyPr>
          <a:lstStyle/>
          <a:p>
            <a:r>
              <a:rPr lang="en-US" sz="5600"/>
              <a:t>Governance, Compliance, and Reporting</a:t>
            </a:r>
          </a:p>
        </p:txBody>
      </p:sp>
      <p:pic>
        <p:nvPicPr>
          <p:cNvPr id="8" name="Content Placeholder 7" descr="Modern desktop computer in contemporary business office with statistics on the screen">
            <a:extLst>
              <a:ext uri="{FF2B5EF4-FFF2-40B4-BE49-F238E27FC236}">
                <a16:creationId xmlns:a16="http://schemas.microsoft.com/office/drawing/2014/main" id="{07ED966B-5A39-466F-B0ED-197C78C93978}"/>
              </a:ext>
            </a:extLst>
          </p:cNvPr>
          <p:cNvPicPr>
            <a:picLocks noGrp="1" noChangeAspect="1"/>
          </p:cNvPicPr>
          <p:nvPr>
            <p:ph type="pic" sz="quarter" idx="13"/>
          </p:nvPr>
        </p:nvPicPr>
        <p:blipFill>
          <a:blip r:embed="rId3"/>
          <a:srcRect l="26004" r="26202" b="-1"/>
          <a:stretch>
            <a:fillRect/>
          </a:stretch>
        </p:blipFill>
        <p:spPr>
          <a:xfrm>
            <a:off x="20" y="10"/>
            <a:ext cx="4910308" cy="6857990"/>
          </a:xfrm>
          <a:noFill/>
        </p:spPr>
      </p:pic>
      <p:sp>
        <p:nvSpPr>
          <p:cNvPr id="3" name="Footer Placeholder 2">
            <a:extLst>
              <a:ext uri="{FF2B5EF4-FFF2-40B4-BE49-F238E27FC236}">
                <a16:creationId xmlns:a16="http://schemas.microsoft.com/office/drawing/2014/main" id="{67489047-FADB-456B-1570-8710E3ED118C}"/>
              </a:ext>
            </a:extLst>
          </p:cNvPr>
          <p:cNvSpPr>
            <a:spLocks noGrp="1"/>
          </p:cNvSpPr>
          <p:nvPr>
            <p:ph type="ftr" sz="quarter" idx="11"/>
          </p:nvPr>
        </p:nvSpPr>
        <p:spPr>
          <a:xfrm>
            <a:off x="5330875" y="213482"/>
            <a:ext cx="2962656" cy="41148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8718EAC6-90D7-EA51-45FB-796DD688084B}"/>
              </a:ext>
            </a:extLst>
          </p:cNvPr>
          <p:cNvSpPr>
            <a:spLocks noGrp="1"/>
          </p:cNvSpPr>
          <p:nvPr>
            <p:ph type="dt" sz="half" idx="10"/>
          </p:nvPr>
        </p:nvSpPr>
        <p:spPr>
          <a:xfrm>
            <a:off x="9609227" y="210312"/>
            <a:ext cx="1679642" cy="411480"/>
          </a:xfrm>
        </p:spPr>
        <p:txBody>
          <a:bodyPr anchor="ctr">
            <a:normAutofit/>
          </a:bodyPr>
          <a:lstStyle/>
          <a:p>
            <a:pPr>
              <a:spcAft>
                <a:spcPts val="600"/>
              </a:spcAft>
            </a:pPr>
            <a:fld id="{9EAD527F-9C49-4481-A18C-80BA2EA99E79}" type="datetime1">
              <a:rPr lang="en-US" smtClean="0"/>
              <a:pPr>
                <a:spcAft>
                  <a:spcPts val="600"/>
                </a:spcAft>
              </a:pPr>
              <a:t>6/1/2026</a:t>
            </a:fld>
            <a:endParaRPr lang="en-US"/>
          </a:p>
        </p:txBody>
      </p:sp>
      <p:sp>
        <p:nvSpPr>
          <p:cNvPr id="5" name="Slide Number Placeholder 4">
            <a:extLst>
              <a:ext uri="{FF2B5EF4-FFF2-40B4-BE49-F238E27FC236}">
                <a16:creationId xmlns:a16="http://schemas.microsoft.com/office/drawing/2014/main" id="{4846DB48-06D1-9CE3-01B4-1A2D812B00AE}"/>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13</a:t>
            </a:fld>
            <a:endParaRPr lang="en-US"/>
          </a:p>
        </p:txBody>
      </p:sp>
      <p:sp>
        <p:nvSpPr>
          <p:cNvPr id="7" name="Content Placeholder 6">
            <a:extLst>
              <a:ext uri="{FF2B5EF4-FFF2-40B4-BE49-F238E27FC236}">
                <a16:creationId xmlns:a16="http://schemas.microsoft.com/office/drawing/2014/main" id="{8CB173B2-3A9B-2003-76FC-27C119BB4D8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0875" y="2944368"/>
            <a:ext cx="6442025" cy="3571693"/>
          </a:xfrm>
        </p:spPr>
        <p:txBody>
          <a:bodyPr>
            <a:normAutofit/>
          </a:bodyPr>
          <a:lstStyle/>
          <a:p>
            <a:pPr marL="0" indent="0">
              <a:spcBef>
                <a:spcPts val="2500"/>
              </a:spcBef>
              <a:buFont typeface="Arial" panose="020B0604020202020204" pitchFamily="34" charset="0"/>
              <a:buNone/>
            </a:pPr>
            <a:r>
              <a:rPr lang="en-US" sz="1400" b="1"/>
              <a:t>NIST Updates and Tracking</a:t>
            </a:r>
          </a:p>
          <a:p>
            <a:pPr marL="0" lvl="1" indent="0">
              <a:buFont typeface="Arial" panose="020B0604020202020204" pitchFamily="34" charset="0"/>
              <a:buNone/>
            </a:pPr>
            <a:r>
              <a:rPr lang="en-US" sz="1400"/>
              <a:t>Ongoing NIST updates and governance tracker ensure cybersecurity and IT risk discussions are documented and traceable.</a:t>
            </a:r>
          </a:p>
          <a:p>
            <a:pPr marL="0" indent="0">
              <a:spcBef>
                <a:spcPts val="2500"/>
              </a:spcBef>
              <a:buFont typeface="Arial" panose="020B0604020202020204" pitchFamily="34" charset="0"/>
              <a:buNone/>
            </a:pPr>
            <a:r>
              <a:rPr lang="en-US" sz="1400" b="1"/>
              <a:t>Audit-Readiness Documentation</a:t>
            </a:r>
          </a:p>
          <a:p>
            <a:pPr marL="0" lvl="1" indent="0">
              <a:buFont typeface="Arial" panose="020B0604020202020204" pitchFamily="34" charset="0"/>
              <a:buNone/>
            </a:pPr>
            <a:r>
              <a:rPr lang="en-US" sz="1400"/>
              <a:t>Comprehensive documentation supports regulatory expectations and demonstrates due diligence in IT oversight.</a:t>
            </a:r>
          </a:p>
          <a:p>
            <a:pPr marL="0" indent="0">
              <a:spcBef>
                <a:spcPts val="2500"/>
              </a:spcBef>
              <a:buFont typeface="Arial" panose="020B0604020202020204" pitchFamily="34" charset="0"/>
              <a:buNone/>
            </a:pPr>
            <a:r>
              <a:rPr lang="en-US" sz="1400" b="1"/>
              <a:t>Visual Dashboards for Transparency</a:t>
            </a:r>
          </a:p>
          <a:p>
            <a:pPr marL="0" lvl="1" indent="0">
              <a:buFont typeface="Arial" panose="020B0604020202020204" pitchFamily="34" charset="0"/>
              <a:buNone/>
            </a:pPr>
            <a:r>
              <a:rPr lang="en-US" sz="1400"/>
              <a:t>Use of visual dashboards enhances transparency and helps leadership understand risk posture and performance trends quickly.</a:t>
            </a:r>
          </a:p>
        </p:txBody>
      </p:sp>
    </p:spTree>
    <p:extLst>
      <p:ext uri="{BB962C8B-B14F-4D97-AF65-F5344CB8AC3E}">
        <p14:creationId xmlns:p14="http://schemas.microsoft.com/office/powerpoint/2010/main" val="9331988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3160C74-AF99-4879-A18C-4BA310A0A6EC}"/>
              </a:ext>
            </a:extLst>
          </p:cNvPr>
          <p:cNvSpPr>
            <a:spLocks noGrp="1"/>
          </p:cNvSpPr>
          <p:nvPr>
            <p:ph type="title"/>
          </p:nvPr>
        </p:nvSpPr>
        <p:spPr>
          <a:xfrm>
            <a:off x="325088" y="1249959"/>
            <a:ext cx="3578905" cy="5125673"/>
          </a:xfrm>
        </p:spPr>
        <p:txBody>
          <a:bodyPr/>
          <a:lstStyle/>
          <a:p>
            <a:endParaRPr lang="en-US"/>
          </a:p>
        </p:txBody>
      </p:sp>
      <p:sp>
        <p:nvSpPr>
          <p:cNvPr id="4" name="Footer Placeholder 3">
            <a:extLst>
              <a:ext uri="{FF2B5EF4-FFF2-40B4-BE49-F238E27FC236}">
                <a16:creationId xmlns:a16="http://schemas.microsoft.com/office/drawing/2014/main" id="{A8FFA6A1-4C97-EED2-C184-84C94670C4DA}"/>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a:t>Footer Text</a:t>
            </a:r>
          </a:p>
        </p:txBody>
      </p:sp>
      <p:sp>
        <p:nvSpPr>
          <p:cNvPr id="14" name="Content Placeholder 3">
            <a:extLst>
              <a:ext uri="{FF2B5EF4-FFF2-40B4-BE49-F238E27FC236}">
                <a16:creationId xmlns:a16="http://schemas.microsoft.com/office/drawing/2014/main" id="{F4FFE46B-33BD-83C6-0777-7D5344DD9A1C}"/>
              </a:ext>
            </a:extLst>
          </p:cNvPr>
          <p:cNvSpPr>
            <a:spLocks noGrp="1"/>
          </p:cNvSpPr>
          <p:nvPr>
            <p:ph idx="1"/>
          </p:nvPr>
        </p:nvSpPr>
        <p:spPr>
          <a:xfrm>
            <a:off x="4775958" y="1249958"/>
            <a:ext cx="7022846" cy="5362955"/>
          </a:xfrm>
        </p:spPr>
        <p:txBody>
          <a:bodyPr/>
          <a:lstStyle/>
          <a:p>
            <a:endParaRPr lang="en-US"/>
          </a:p>
        </p:txBody>
      </p:sp>
      <p:sp>
        <p:nvSpPr>
          <p:cNvPr id="5" name="Date Placeholder 4">
            <a:extLst>
              <a:ext uri="{FF2B5EF4-FFF2-40B4-BE49-F238E27FC236}">
                <a16:creationId xmlns:a16="http://schemas.microsoft.com/office/drawing/2014/main" id="{38A1DAB7-E8CA-DD8E-6970-E56F3EBEF79A}"/>
              </a:ext>
            </a:extLst>
          </p:cNvPr>
          <p:cNvSpPr>
            <a:spLocks noGrp="1"/>
          </p:cNvSpPr>
          <p:nvPr>
            <p:ph type="dt" sz="half" idx="10"/>
          </p:nvPr>
        </p:nvSpPr>
        <p:spPr>
          <a:xfrm>
            <a:off x="4775958" y="207982"/>
            <a:ext cx="1921315" cy="413360"/>
          </a:xfrm>
        </p:spPr>
        <p:txBody>
          <a:bodyPr anchor="ctr">
            <a:normAutofit/>
          </a:bodyPr>
          <a:lstStyle/>
          <a:p>
            <a:pPr>
              <a:spcAft>
                <a:spcPts val="600"/>
              </a:spcAft>
            </a:pPr>
            <a:fld id="{491FA625-EDE8-4CCD-93F2-36B8EAED6AA1}" type="datetime1">
              <a:rPr lang="en-US" smtClean="0"/>
              <a:pPr>
                <a:spcAft>
                  <a:spcPts val="600"/>
                </a:spcAft>
              </a:pPr>
              <a:t>6/1/2026</a:t>
            </a:fld>
            <a:endParaRPr lang="en-US"/>
          </a:p>
        </p:txBody>
      </p:sp>
      <p:sp>
        <p:nvSpPr>
          <p:cNvPr id="6" name="Slide Number Placeholder 5">
            <a:extLst>
              <a:ext uri="{FF2B5EF4-FFF2-40B4-BE49-F238E27FC236}">
                <a16:creationId xmlns:a16="http://schemas.microsoft.com/office/drawing/2014/main" id="{FD4C3E71-D49E-EFA6-D880-71BC1004ABDC}"/>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14</a:t>
            </a:fld>
            <a:endParaRPr lang="en-US"/>
          </a:p>
        </p:txBody>
      </p:sp>
    </p:spTree>
    <p:extLst>
      <p:ext uri="{BB962C8B-B14F-4D97-AF65-F5344CB8AC3E}">
        <p14:creationId xmlns:p14="http://schemas.microsoft.com/office/powerpoint/2010/main" val="3956551332"/>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13</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Editorial</vt:lpstr>
      <vt:lpstr>Valley Credit Union – Executive IT Dashboard</vt:lpstr>
      <vt:lpstr>Executive Overview</vt:lpstr>
      <vt:lpstr>Executive Summary</vt:lpstr>
      <vt:lpstr>Users, Devices, and Infrastructure</vt:lpstr>
      <vt:lpstr>User and Device Overview</vt:lpstr>
      <vt:lpstr>Server Infrastructure</vt:lpstr>
      <vt:lpstr>Productivity, Security, and Operations</vt:lpstr>
      <vt:lpstr>Microsoft Licensing and Collaboration</vt:lpstr>
      <vt:lpstr>Security and Compliance Posture</vt:lpstr>
      <vt:lpstr>Patch Management and Operational Metrics</vt:lpstr>
      <vt:lpstr>Risk Awareness and Governance</vt:lpstr>
      <vt:lpstr>Cyber Awareness and External Risk Monitoring</vt:lpstr>
      <vt:lpstr>Governance, Compliance, and Reporting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W0516036@campus.nscc.ca</dc:creator>
  <cp:lastModifiedBy>W0516036@campus.nscc.ca</cp:lastModifiedBy>
  <cp:revision>24</cp:revision>
  <dcterms:modified xsi:type="dcterms:W3CDTF">2026-06-01T13:10:14Z</dcterms:modified>
</cp:coreProperties>
</file>